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457200" y="457200"/>
            <a:ext cx="8229600" cy="0"/>
          </a:xfrm>
          <a:prstGeom prst="line">
            <a:avLst/>
          </a:prstGeom>
          <a:noFill/>
          <a:ln w="9525">
            <a:solidFill>
              <a:srgbClr val="B8860B"/>
            </a:solidFill>
            <a:prstDash val="solid"/>
          </a:ln>
        </p:spPr>
      </p:sp>
      <p:sp>
        <p:nvSpPr>
          <p:cNvPr id="3" name="Shape 1"/>
          <p:cNvSpPr/>
          <p:nvPr/>
        </p:nvSpPr>
        <p:spPr>
          <a:xfrm>
            <a:off x="457200" y="4686300"/>
            <a:ext cx="8229600" cy="0"/>
          </a:xfrm>
          <a:prstGeom prst="line">
            <a:avLst/>
          </a:prstGeom>
          <a:noFill/>
          <a:ln w="9525">
            <a:solidFill>
              <a:srgbClr val="B8860B"/>
            </a:solidFill>
            <a:prstDash val="solid"/>
          </a:ln>
        </p:spPr>
      </p:sp>
      <p:pic>
        <p:nvPicPr>
          <p:cNvPr id="4" name="Image 0" descr="/sessions/cool-amazing-brown/mnt/outputs/UR03/iris_rep_blanc_noir.png">    </p:cNvPr>
          <p:cNvPicPr>
            <a:picLocks noChangeAspect="1"/>
          </p:cNvPicPr>
          <p:nvPr/>
        </p:nvPicPr>
        <p:blipFill>
          <a:blip r:embed="rId1"/>
          <a:srcRect l="0" r="0" t="0" b="0"/>
          <a:stretch/>
        </p:blipFill>
        <p:spPr>
          <a:xfrm>
            <a:off x="457200" y="685800"/>
            <a:ext cx="1371600" cy="502920"/>
          </a:xfrm>
          <a:prstGeom prst="rect">
            <a:avLst/>
          </a:prstGeom>
        </p:spPr>
      </p:pic>
      <p:sp>
        <p:nvSpPr>
          <p:cNvPr id="5" name="Text 2"/>
          <p:cNvSpPr/>
          <p:nvPr/>
        </p:nvSpPr>
        <p:spPr>
          <a:xfrm>
            <a:off x="5486400" y="777240"/>
            <a:ext cx="3200400" cy="274320"/>
          </a:xfrm>
          <a:prstGeom prst="rect">
            <a:avLst/>
          </a:prstGeom>
          <a:noFill/>
          <a:ln/>
        </p:spPr>
        <p:txBody>
          <a:bodyPr wrap="square" lIns="0" tIns="0" rIns="0" bIns="0" rtlCol="0" anchor="ctr"/>
          <a:lstStyle/>
          <a:p>
            <a:pPr algn="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RÉFÉRENCE  ·  72RB</a:t>
            </a:r>
            <a:endParaRPr lang="en-US" sz="900" dirty="0"/>
          </a:p>
        </p:txBody>
      </p:sp>
      <p:sp>
        <p:nvSpPr>
          <p:cNvPr id="6" name="Text 3"/>
          <p:cNvSpPr/>
          <p:nvPr/>
        </p:nvSpPr>
        <p:spPr>
          <a:xfrm>
            <a:off x="5486400" y="1051560"/>
            <a:ext cx="3200400" cy="228600"/>
          </a:xfrm>
          <a:prstGeom prst="rect">
            <a:avLst/>
          </a:prstGeom>
          <a:noFill/>
          <a:ln/>
        </p:spPr>
        <p:txBody>
          <a:bodyPr wrap="square" lIns="0" tIns="0" rIns="0" bIns="0" rtlCol="0" anchor="ctr"/>
          <a:lstStyle/>
          <a:p>
            <a:pPr algn="r" indent="0" marL="0">
              <a:buNone/>
            </a:pPr>
            <a:r>
              <a:rPr lang="en-US" sz="900" spc="500" kern="0" dirty="0">
                <a:solidFill>
                  <a:srgbClr val="8A7B5C"/>
                </a:solidFill>
                <a:latin typeface="Avenir Next LT Pro" pitchFamily="34" charset="0"/>
                <a:ea typeface="Avenir Next LT Pro" pitchFamily="34" charset="-122"/>
                <a:cs typeface="Avenir Next LT Pro" pitchFamily="34" charset="-120"/>
              </a:rPr>
              <a:t>MAI 2026</a:t>
            </a:r>
            <a:endParaRPr lang="en-US" sz="900" dirty="0"/>
          </a:p>
        </p:txBody>
      </p:sp>
      <p:sp>
        <p:nvSpPr>
          <p:cNvPr id="7" name="Text 4"/>
          <p:cNvSpPr/>
          <p:nvPr/>
        </p:nvSpPr>
        <p:spPr>
          <a:xfrm>
            <a:off x="457200" y="2240280"/>
            <a:ext cx="8229600" cy="274320"/>
          </a:xfrm>
          <a:prstGeom prst="rect">
            <a:avLst/>
          </a:prstGeom>
          <a:noFill/>
          <a:ln/>
        </p:spPr>
        <p:txBody>
          <a:bodyPr wrap="square" lIns="0" tIns="0" rIns="0" bIns="0" rtlCol="0" anchor="ctr"/>
          <a:lstStyle/>
          <a:p>
            <a:pPr indent="0" marL="0">
              <a:buNone/>
            </a:pPr>
            <a:r>
              <a:rPr lang="en-US" sz="1100" b="1" spc="800" kern="0" dirty="0">
                <a:solidFill>
                  <a:srgbClr val="B8860B"/>
                </a:solidFill>
                <a:latin typeface="Avenir Next LT Pro" pitchFamily="34" charset="0"/>
                <a:ea typeface="Avenir Next LT Pro" pitchFamily="34" charset="-122"/>
                <a:cs typeface="Avenir Next LT Pro" pitchFamily="34" charset="-120"/>
              </a:rPr>
              <a:t>DOSSIER D'INVESTISSEMENT</a:t>
            </a:r>
            <a:endParaRPr lang="en-US" sz="1100" dirty="0"/>
          </a:p>
        </p:txBody>
      </p:sp>
      <p:sp>
        <p:nvSpPr>
          <p:cNvPr id="8" name="Shape 5"/>
          <p:cNvSpPr/>
          <p:nvPr/>
        </p:nvSpPr>
        <p:spPr>
          <a:xfrm>
            <a:off x="457200" y="2606040"/>
            <a:ext cx="548640" cy="0"/>
          </a:xfrm>
          <a:prstGeom prst="line">
            <a:avLst/>
          </a:prstGeom>
          <a:noFill/>
          <a:ln w="19050">
            <a:solidFill>
              <a:srgbClr val="B8860B"/>
            </a:solidFill>
            <a:prstDash val="solid"/>
          </a:ln>
        </p:spPr>
      </p:sp>
      <p:sp>
        <p:nvSpPr>
          <p:cNvPr id="9" name="Text 6"/>
          <p:cNvSpPr/>
          <p:nvPr/>
        </p:nvSpPr>
        <p:spPr>
          <a:xfrm>
            <a:off x="457200" y="2788920"/>
            <a:ext cx="8229600" cy="685800"/>
          </a:xfrm>
          <a:prstGeom prst="rect">
            <a:avLst/>
          </a:prstGeom>
          <a:noFill/>
          <a:ln/>
        </p:spPr>
        <p:txBody>
          <a:bodyPr wrap="square" lIns="0" tIns="0" rIns="0" bIns="0" rtlCol="0" anchor="ctr"/>
          <a:lstStyle/>
          <a:p>
            <a:pPr indent="0" marL="0">
              <a:buNone/>
            </a:pPr>
            <a:r>
              <a:rPr lang="en-US" sz="3800" i="1" dirty="0">
                <a:solidFill>
                  <a:srgbClr val="FAFAF8"/>
                </a:solidFill>
                <a:latin typeface="Georgia" pitchFamily="34" charset="0"/>
                <a:ea typeface="Georgia" pitchFamily="34" charset="-122"/>
                <a:cs typeface="Georgia" pitchFamily="34" charset="-120"/>
              </a:rPr>
              <a:t>Appartement de caractère</a:t>
            </a:r>
            <a:endParaRPr lang="en-US" sz="3800" dirty="0"/>
          </a:p>
        </p:txBody>
      </p:sp>
      <p:sp>
        <p:nvSpPr>
          <p:cNvPr id="10" name="Text 7"/>
          <p:cNvSpPr/>
          <p:nvPr/>
        </p:nvSpPr>
        <p:spPr>
          <a:xfrm>
            <a:off x="457200" y="3383280"/>
            <a:ext cx="8229600" cy="548640"/>
          </a:xfrm>
          <a:prstGeom prst="rect">
            <a:avLst/>
          </a:prstGeom>
          <a:noFill/>
          <a:ln/>
        </p:spPr>
        <p:txBody>
          <a:bodyPr wrap="square" lIns="0" tIns="0" rIns="0" bIns="0" rtlCol="0" anchor="ctr"/>
          <a:lstStyle/>
          <a:p>
            <a:pPr indent="0" marL="0">
              <a:buNone/>
            </a:pPr>
            <a:r>
              <a:rPr lang="en-US" sz="2800" i="1" dirty="0">
                <a:solidFill>
                  <a:srgbClr val="B8860B"/>
                </a:solidFill>
                <a:latin typeface="Georgia" pitchFamily="34" charset="0"/>
                <a:ea typeface="Georgia" pitchFamily="34" charset="-122"/>
                <a:cs typeface="Georgia" pitchFamily="34" charset="-120"/>
              </a:rPr>
              <a:t>hyper centre ville d'Orléans</a:t>
            </a:r>
            <a:endParaRPr lang="en-US" sz="2800" dirty="0"/>
          </a:p>
        </p:txBody>
      </p:sp>
      <p:sp>
        <p:nvSpPr>
          <p:cNvPr id="11" name="Text 8"/>
          <p:cNvSpPr/>
          <p:nvPr/>
        </p:nvSpPr>
        <p:spPr>
          <a:xfrm>
            <a:off x="457200" y="4160520"/>
            <a:ext cx="8229600" cy="274320"/>
          </a:xfrm>
          <a:prstGeom prst="rect">
            <a:avLst/>
          </a:prstGeom>
          <a:noFill/>
          <a:ln/>
        </p:spPr>
        <p:txBody>
          <a:bodyPr wrap="square" lIns="0" tIns="0" rIns="0" bIns="0" rtlCol="0" anchor="ctr"/>
          <a:lstStyle/>
          <a:p>
            <a:pPr indent="0" marL="0">
              <a:buNone/>
            </a:pPr>
            <a:r>
              <a:rPr lang="en-US" sz="900" spc="600" kern="0" dirty="0">
                <a:solidFill>
                  <a:srgbClr val="B5A77E"/>
                </a:solidFill>
                <a:latin typeface="Avenir Next LT Pro" pitchFamily="34" charset="0"/>
                <a:ea typeface="Avenir Next LT Pro" pitchFamily="34" charset="-122"/>
                <a:cs typeface="Avenir Next LT Pro" pitchFamily="34" charset="-120"/>
              </a:rPr>
              <a:t>OPÉRATION EN COURS DE LIVRAISON  ·  ÉTÉ 2026</a:t>
            </a:r>
            <a:endParaRPr lang="en-US" sz="900" dirty="0"/>
          </a:p>
        </p:txBody>
      </p:sp>
      <p:sp>
        <p:nvSpPr>
          <p:cNvPr id="12" name="Text 9"/>
          <p:cNvSpPr/>
          <p:nvPr/>
        </p:nvSpPr>
        <p:spPr>
          <a:xfrm>
            <a:off x="457200" y="4736592"/>
            <a:ext cx="8229600" cy="274320"/>
          </a:xfrm>
          <a:prstGeom prst="rect">
            <a:avLst/>
          </a:prstGeom>
          <a:noFill/>
          <a:ln/>
        </p:spPr>
        <p:txBody>
          <a:bodyPr wrap="square" lIns="0" tIns="0" rIns="0" bIns="0" rtlCol="0" anchor="ctr"/>
          <a:lstStyle/>
          <a:p>
            <a:pPr indent="0" marL="0">
              <a:buNone/>
            </a:pPr>
            <a:r>
              <a:rPr lang="en-US" sz="1100" i="1" spc="200" kern="0" dirty="0">
                <a:solidFill>
                  <a:srgbClr val="B8860B"/>
                </a:solidFill>
                <a:latin typeface="Georgia" pitchFamily="34" charset="0"/>
                <a:ea typeface="Georgia" pitchFamily="34" charset="-122"/>
                <a:cs typeface="Georgia" pitchFamily="34" charset="-120"/>
              </a:rPr>
              <a:t>Réunir, Créer, Investir.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00  ·  SOMMAIRE</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EXECUTIVE SUMMARY</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Table des matières</a:t>
            </a:r>
            <a:endParaRPr lang="en-US" sz="2600" dirty="0"/>
          </a:p>
        </p:txBody>
      </p:sp>
      <p:sp>
        <p:nvSpPr>
          <p:cNvPr id="9" name="Text 6"/>
          <p:cNvSpPr/>
          <p:nvPr/>
        </p:nvSpPr>
        <p:spPr>
          <a:xfrm>
            <a:off x="457200" y="2286000"/>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01</a:t>
            </a:r>
            <a:endParaRPr lang="en-US" sz="1400" dirty="0"/>
          </a:p>
        </p:txBody>
      </p:sp>
      <p:sp>
        <p:nvSpPr>
          <p:cNvPr id="10" name="Text 7"/>
          <p:cNvSpPr/>
          <p:nvPr/>
        </p:nvSpPr>
        <p:spPr>
          <a:xfrm>
            <a:off x="1005840" y="2286000"/>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Présentation de l'opportunité</a:t>
            </a:r>
            <a:endParaRPr lang="en-US" sz="1100" dirty="0"/>
          </a:p>
        </p:txBody>
      </p:sp>
      <p:sp>
        <p:nvSpPr>
          <p:cNvPr id="11" name="Shape 8"/>
          <p:cNvSpPr/>
          <p:nvPr/>
        </p:nvSpPr>
        <p:spPr>
          <a:xfrm>
            <a:off x="457200" y="2596896"/>
            <a:ext cx="3840480" cy="0"/>
          </a:xfrm>
          <a:prstGeom prst="line">
            <a:avLst/>
          </a:prstGeom>
          <a:noFill/>
          <a:ln w="5080">
            <a:solidFill>
              <a:srgbClr val="E5E0D7"/>
            </a:solidFill>
            <a:prstDash val="solid"/>
          </a:ln>
        </p:spPr>
      </p:sp>
      <p:sp>
        <p:nvSpPr>
          <p:cNvPr id="12" name="Text 9"/>
          <p:cNvSpPr/>
          <p:nvPr/>
        </p:nvSpPr>
        <p:spPr>
          <a:xfrm>
            <a:off x="457200" y="2615184"/>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02</a:t>
            </a:r>
            <a:endParaRPr lang="en-US" sz="1400" dirty="0"/>
          </a:p>
        </p:txBody>
      </p:sp>
      <p:sp>
        <p:nvSpPr>
          <p:cNvPr id="13" name="Text 10"/>
          <p:cNvSpPr/>
          <p:nvPr/>
        </p:nvSpPr>
        <p:spPr>
          <a:xfrm>
            <a:off x="1005840" y="2615184"/>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Structuration de l'opération</a:t>
            </a:r>
            <a:endParaRPr lang="en-US" sz="1100" dirty="0"/>
          </a:p>
        </p:txBody>
      </p:sp>
      <p:sp>
        <p:nvSpPr>
          <p:cNvPr id="14" name="Shape 11"/>
          <p:cNvSpPr/>
          <p:nvPr/>
        </p:nvSpPr>
        <p:spPr>
          <a:xfrm>
            <a:off x="457200" y="2926080"/>
            <a:ext cx="3840480" cy="0"/>
          </a:xfrm>
          <a:prstGeom prst="line">
            <a:avLst/>
          </a:prstGeom>
          <a:noFill/>
          <a:ln w="5080">
            <a:solidFill>
              <a:srgbClr val="E5E0D7"/>
            </a:solidFill>
            <a:prstDash val="solid"/>
          </a:ln>
        </p:spPr>
      </p:sp>
      <p:sp>
        <p:nvSpPr>
          <p:cNvPr id="15" name="Text 12"/>
          <p:cNvSpPr/>
          <p:nvPr/>
        </p:nvSpPr>
        <p:spPr>
          <a:xfrm>
            <a:off x="457200" y="2944368"/>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03</a:t>
            </a:r>
            <a:endParaRPr lang="en-US" sz="1400" dirty="0"/>
          </a:p>
        </p:txBody>
      </p:sp>
      <p:sp>
        <p:nvSpPr>
          <p:cNvPr id="16" name="Text 13"/>
          <p:cNvSpPr/>
          <p:nvPr/>
        </p:nvSpPr>
        <p:spPr>
          <a:xfrm>
            <a:off x="1005840" y="2944368"/>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Présentation de l'opérateur</a:t>
            </a:r>
            <a:endParaRPr lang="en-US" sz="1100" dirty="0"/>
          </a:p>
        </p:txBody>
      </p:sp>
      <p:sp>
        <p:nvSpPr>
          <p:cNvPr id="17" name="Shape 14"/>
          <p:cNvSpPr/>
          <p:nvPr/>
        </p:nvSpPr>
        <p:spPr>
          <a:xfrm>
            <a:off x="457200" y="3255264"/>
            <a:ext cx="3840480" cy="0"/>
          </a:xfrm>
          <a:prstGeom prst="line">
            <a:avLst/>
          </a:prstGeom>
          <a:noFill/>
          <a:ln w="5080">
            <a:solidFill>
              <a:srgbClr val="E5E0D7"/>
            </a:solidFill>
            <a:prstDash val="solid"/>
          </a:ln>
        </p:spPr>
      </p:sp>
      <p:sp>
        <p:nvSpPr>
          <p:cNvPr id="18" name="Text 15"/>
          <p:cNvSpPr/>
          <p:nvPr/>
        </p:nvSpPr>
        <p:spPr>
          <a:xfrm>
            <a:off x="457200" y="3273552"/>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04</a:t>
            </a:r>
            <a:endParaRPr lang="en-US" sz="1400" dirty="0"/>
          </a:p>
        </p:txBody>
      </p:sp>
      <p:sp>
        <p:nvSpPr>
          <p:cNvPr id="19" name="Text 16"/>
          <p:cNvSpPr/>
          <p:nvPr/>
        </p:nvSpPr>
        <p:spPr>
          <a:xfrm>
            <a:off x="1005840" y="3273552"/>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Planning prévisionnel</a:t>
            </a:r>
            <a:endParaRPr lang="en-US" sz="1100" dirty="0"/>
          </a:p>
        </p:txBody>
      </p:sp>
      <p:sp>
        <p:nvSpPr>
          <p:cNvPr id="20" name="Shape 17"/>
          <p:cNvSpPr/>
          <p:nvPr/>
        </p:nvSpPr>
        <p:spPr>
          <a:xfrm>
            <a:off x="457200" y="3584448"/>
            <a:ext cx="3840480" cy="0"/>
          </a:xfrm>
          <a:prstGeom prst="line">
            <a:avLst/>
          </a:prstGeom>
          <a:noFill/>
          <a:ln w="5080">
            <a:solidFill>
              <a:srgbClr val="E5E0D7"/>
            </a:solidFill>
            <a:prstDash val="solid"/>
          </a:ln>
        </p:spPr>
      </p:sp>
      <p:sp>
        <p:nvSpPr>
          <p:cNvPr id="21" name="Text 18"/>
          <p:cNvSpPr/>
          <p:nvPr/>
        </p:nvSpPr>
        <p:spPr>
          <a:xfrm>
            <a:off x="457200" y="3602736"/>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05</a:t>
            </a:r>
            <a:endParaRPr lang="en-US" sz="1400" dirty="0"/>
          </a:p>
        </p:txBody>
      </p:sp>
      <p:sp>
        <p:nvSpPr>
          <p:cNvPr id="22" name="Text 19"/>
          <p:cNvSpPr/>
          <p:nvPr/>
        </p:nvSpPr>
        <p:spPr>
          <a:xfrm>
            <a:off x="1005840" y="3602736"/>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Localisation</a:t>
            </a:r>
            <a:endParaRPr lang="en-US" sz="1100" dirty="0"/>
          </a:p>
        </p:txBody>
      </p:sp>
      <p:sp>
        <p:nvSpPr>
          <p:cNvPr id="23" name="Shape 20"/>
          <p:cNvSpPr/>
          <p:nvPr/>
        </p:nvSpPr>
        <p:spPr>
          <a:xfrm>
            <a:off x="457200" y="3913632"/>
            <a:ext cx="3840480" cy="0"/>
          </a:xfrm>
          <a:prstGeom prst="line">
            <a:avLst/>
          </a:prstGeom>
          <a:noFill/>
          <a:ln w="5080">
            <a:solidFill>
              <a:srgbClr val="E5E0D7"/>
            </a:solidFill>
            <a:prstDash val="solid"/>
          </a:ln>
        </p:spPr>
      </p:sp>
      <p:sp>
        <p:nvSpPr>
          <p:cNvPr id="24" name="Text 21"/>
          <p:cNvSpPr/>
          <p:nvPr/>
        </p:nvSpPr>
        <p:spPr>
          <a:xfrm>
            <a:off x="457200" y="3931920"/>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06</a:t>
            </a:r>
            <a:endParaRPr lang="en-US" sz="1400" dirty="0"/>
          </a:p>
        </p:txBody>
      </p:sp>
      <p:sp>
        <p:nvSpPr>
          <p:cNvPr id="25" name="Text 22"/>
          <p:cNvSpPr/>
          <p:nvPr/>
        </p:nvSpPr>
        <p:spPr>
          <a:xfrm>
            <a:off x="1005840" y="3931920"/>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Analyse de sensibilité</a:t>
            </a:r>
            <a:endParaRPr lang="en-US" sz="1100" dirty="0"/>
          </a:p>
        </p:txBody>
      </p:sp>
      <p:sp>
        <p:nvSpPr>
          <p:cNvPr id="26" name="Shape 23"/>
          <p:cNvSpPr/>
          <p:nvPr/>
        </p:nvSpPr>
        <p:spPr>
          <a:xfrm>
            <a:off x="457200" y="4242816"/>
            <a:ext cx="3840480" cy="0"/>
          </a:xfrm>
          <a:prstGeom prst="line">
            <a:avLst/>
          </a:prstGeom>
          <a:noFill/>
          <a:ln w="5080">
            <a:solidFill>
              <a:srgbClr val="E5E0D7"/>
            </a:solidFill>
            <a:prstDash val="solid"/>
          </a:ln>
        </p:spPr>
      </p:sp>
      <p:sp>
        <p:nvSpPr>
          <p:cNvPr id="27" name="Text 24"/>
          <p:cNvSpPr/>
          <p:nvPr/>
        </p:nvSpPr>
        <p:spPr>
          <a:xfrm>
            <a:off x="4800600" y="2286000"/>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07</a:t>
            </a:r>
            <a:endParaRPr lang="en-US" sz="1400" dirty="0"/>
          </a:p>
        </p:txBody>
      </p:sp>
      <p:sp>
        <p:nvSpPr>
          <p:cNvPr id="28" name="Text 25"/>
          <p:cNvSpPr/>
          <p:nvPr/>
        </p:nvSpPr>
        <p:spPr>
          <a:xfrm>
            <a:off x="5349240" y="2286000"/>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Diagnostic SWOT</a:t>
            </a:r>
            <a:endParaRPr lang="en-US" sz="1100" dirty="0"/>
          </a:p>
        </p:txBody>
      </p:sp>
      <p:sp>
        <p:nvSpPr>
          <p:cNvPr id="29" name="Shape 26"/>
          <p:cNvSpPr/>
          <p:nvPr/>
        </p:nvSpPr>
        <p:spPr>
          <a:xfrm>
            <a:off x="4800600" y="2596896"/>
            <a:ext cx="3840480" cy="0"/>
          </a:xfrm>
          <a:prstGeom prst="line">
            <a:avLst/>
          </a:prstGeom>
          <a:noFill/>
          <a:ln w="5080">
            <a:solidFill>
              <a:srgbClr val="E5E0D7"/>
            </a:solidFill>
            <a:prstDash val="solid"/>
          </a:ln>
        </p:spPr>
      </p:sp>
      <p:sp>
        <p:nvSpPr>
          <p:cNvPr id="30" name="Text 27"/>
          <p:cNvSpPr/>
          <p:nvPr/>
        </p:nvSpPr>
        <p:spPr>
          <a:xfrm>
            <a:off x="4800600" y="2615184"/>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08</a:t>
            </a:r>
            <a:endParaRPr lang="en-US" sz="1400" dirty="0"/>
          </a:p>
        </p:txBody>
      </p:sp>
      <p:sp>
        <p:nvSpPr>
          <p:cNvPr id="31" name="Text 28"/>
          <p:cNvSpPr/>
          <p:nvPr/>
        </p:nvSpPr>
        <p:spPr>
          <a:xfrm>
            <a:off x="5349240" y="2615184"/>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Point marché</a:t>
            </a:r>
            <a:endParaRPr lang="en-US" sz="1100" dirty="0"/>
          </a:p>
        </p:txBody>
      </p:sp>
      <p:sp>
        <p:nvSpPr>
          <p:cNvPr id="32" name="Shape 29"/>
          <p:cNvSpPr/>
          <p:nvPr/>
        </p:nvSpPr>
        <p:spPr>
          <a:xfrm>
            <a:off x="4800600" y="2926080"/>
            <a:ext cx="3840480" cy="0"/>
          </a:xfrm>
          <a:prstGeom prst="line">
            <a:avLst/>
          </a:prstGeom>
          <a:noFill/>
          <a:ln w="5080">
            <a:solidFill>
              <a:srgbClr val="E5E0D7"/>
            </a:solidFill>
            <a:prstDash val="solid"/>
          </a:ln>
        </p:spPr>
      </p:sp>
      <p:sp>
        <p:nvSpPr>
          <p:cNvPr id="33" name="Text 30"/>
          <p:cNvSpPr/>
          <p:nvPr/>
        </p:nvSpPr>
        <p:spPr>
          <a:xfrm>
            <a:off x="4800600" y="2944368"/>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09</a:t>
            </a:r>
            <a:endParaRPr lang="en-US" sz="1400" dirty="0"/>
          </a:p>
        </p:txBody>
      </p:sp>
      <p:sp>
        <p:nvSpPr>
          <p:cNvPr id="34" name="Text 31"/>
          <p:cNvSpPr/>
          <p:nvPr/>
        </p:nvSpPr>
        <p:spPr>
          <a:xfrm>
            <a:off x="5349240" y="2944368"/>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Reportage photo, état actuel</a:t>
            </a:r>
            <a:endParaRPr lang="en-US" sz="1100" dirty="0"/>
          </a:p>
        </p:txBody>
      </p:sp>
      <p:sp>
        <p:nvSpPr>
          <p:cNvPr id="35" name="Shape 32"/>
          <p:cNvSpPr/>
          <p:nvPr/>
        </p:nvSpPr>
        <p:spPr>
          <a:xfrm>
            <a:off x="4800600" y="3255264"/>
            <a:ext cx="3840480" cy="0"/>
          </a:xfrm>
          <a:prstGeom prst="line">
            <a:avLst/>
          </a:prstGeom>
          <a:noFill/>
          <a:ln w="5080">
            <a:solidFill>
              <a:srgbClr val="E5E0D7"/>
            </a:solidFill>
            <a:prstDash val="solid"/>
          </a:ln>
        </p:spPr>
      </p:sp>
      <p:sp>
        <p:nvSpPr>
          <p:cNvPr id="36" name="Text 33"/>
          <p:cNvSpPr/>
          <p:nvPr/>
        </p:nvSpPr>
        <p:spPr>
          <a:xfrm>
            <a:off x="4800600" y="3273552"/>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10</a:t>
            </a:r>
            <a:endParaRPr lang="en-US" sz="1400" dirty="0"/>
          </a:p>
        </p:txBody>
      </p:sp>
      <p:sp>
        <p:nvSpPr>
          <p:cNvPr id="37" name="Text 34"/>
          <p:cNvSpPr/>
          <p:nvPr/>
        </p:nvSpPr>
        <p:spPr>
          <a:xfrm>
            <a:off x="5349240" y="3273552"/>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Reportage photo, projet</a:t>
            </a:r>
            <a:endParaRPr lang="en-US" sz="1100" dirty="0"/>
          </a:p>
        </p:txBody>
      </p:sp>
      <p:sp>
        <p:nvSpPr>
          <p:cNvPr id="38" name="Shape 35"/>
          <p:cNvSpPr/>
          <p:nvPr/>
        </p:nvSpPr>
        <p:spPr>
          <a:xfrm>
            <a:off x="4800600" y="3584448"/>
            <a:ext cx="3840480" cy="0"/>
          </a:xfrm>
          <a:prstGeom prst="line">
            <a:avLst/>
          </a:prstGeom>
          <a:noFill/>
          <a:ln w="5080">
            <a:solidFill>
              <a:srgbClr val="E5E0D7"/>
            </a:solidFill>
            <a:prstDash val="solid"/>
          </a:ln>
        </p:spPr>
      </p:sp>
      <p:sp>
        <p:nvSpPr>
          <p:cNvPr id="39" name="Text 36"/>
          <p:cNvSpPr/>
          <p:nvPr/>
        </p:nvSpPr>
        <p:spPr>
          <a:xfrm>
            <a:off x="4800600" y="3602736"/>
            <a:ext cx="502920" cy="329184"/>
          </a:xfrm>
          <a:prstGeom prst="rect">
            <a:avLst/>
          </a:prstGeom>
          <a:noFill/>
          <a:ln/>
        </p:spPr>
        <p:txBody>
          <a:bodyPr wrap="square" lIns="0" tIns="0" rIns="0" bIns="0" rtlCol="0" anchor="ctr"/>
          <a:lstStyle/>
          <a:p>
            <a:pPr indent="0" marL="0">
              <a:buNone/>
            </a:pPr>
            <a:r>
              <a:rPr lang="en-US" sz="1400" i="1" dirty="0">
                <a:solidFill>
                  <a:srgbClr val="B8860B"/>
                </a:solidFill>
                <a:latin typeface="Georgia" pitchFamily="34" charset="0"/>
                <a:ea typeface="Georgia" pitchFamily="34" charset="-122"/>
                <a:cs typeface="Georgia" pitchFamily="34" charset="-120"/>
              </a:rPr>
              <a:t>11</a:t>
            </a:r>
            <a:endParaRPr lang="en-US" sz="1400" dirty="0"/>
          </a:p>
        </p:txBody>
      </p:sp>
      <p:sp>
        <p:nvSpPr>
          <p:cNvPr id="40" name="Text 37"/>
          <p:cNvSpPr/>
          <p:nvPr/>
        </p:nvSpPr>
        <p:spPr>
          <a:xfrm>
            <a:off x="5349240" y="3602736"/>
            <a:ext cx="3291840" cy="329184"/>
          </a:xfrm>
          <a:prstGeom prst="rect">
            <a:avLst/>
          </a:prstGeom>
          <a:noFill/>
          <a:ln/>
        </p:spPr>
        <p:txBody>
          <a:bodyPr wrap="square" lIns="0" tIns="0" rIns="0" bIns="0" rtlCol="0" anchor="ctr"/>
          <a:lstStyle/>
          <a:p>
            <a:pPr indent="0" marL="0">
              <a:buNone/>
            </a:pPr>
            <a:r>
              <a:rPr lang="en-US" sz="1100" dirty="0">
                <a:solidFill>
                  <a:srgbClr val="1A1A1A"/>
                </a:solidFill>
                <a:latin typeface="Avenir Next LT Pro" pitchFamily="34" charset="0"/>
                <a:ea typeface="Avenir Next LT Pro" pitchFamily="34" charset="-122"/>
                <a:cs typeface="Avenir Next LT Pro" pitchFamily="34" charset="-120"/>
              </a:rPr>
              <a:t>Contact</a:t>
            </a:r>
            <a:endParaRPr lang="en-US" sz="1100" dirty="0"/>
          </a:p>
        </p:txBody>
      </p:sp>
      <p:sp>
        <p:nvSpPr>
          <p:cNvPr id="41" name="Shape 38"/>
          <p:cNvSpPr/>
          <p:nvPr/>
        </p:nvSpPr>
        <p:spPr>
          <a:xfrm>
            <a:off x="4800600" y="3913632"/>
            <a:ext cx="3840480" cy="0"/>
          </a:xfrm>
          <a:prstGeom prst="line">
            <a:avLst/>
          </a:prstGeom>
          <a:noFill/>
          <a:ln w="5080">
            <a:solidFill>
              <a:srgbClr val="E5E0D7"/>
            </a:solidFill>
            <a:prstDash val="solid"/>
          </a:ln>
        </p:spPr>
      </p:sp>
      <p:sp>
        <p:nvSpPr>
          <p:cNvPr id="42" name="Shape 39"/>
          <p:cNvSpPr/>
          <p:nvPr/>
        </p:nvSpPr>
        <p:spPr>
          <a:xfrm>
            <a:off x="457200" y="4800600"/>
            <a:ext cx="8229600" cy="0"/>
          </a:xfrm>
          <a:prstGeom prst="line">
            <a:avLst/>
          </a:prstGeom>
          <a:noFill/>
          <a:ln w="6350">
            <a:solidFill>
              <a:srgbClr val="E5E0D7"/>
            </a:solidFill>
            <a:prstDash val="solid"/>
          </a:ln>
        </p:spPr>
      </p:sp>
      <p:sp>
        <p:nvSpPr>
          <p:cNvPr id="43" name="Text 40"/>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44" name="Text 41"/>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01  ·  PRÉSENTATION DE L'OPPORTUNITÉ</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EXECUTIVE SUMMARY</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Une opportunité rare en hyper centre</a:t>
            </a:r>
            <a:endParaRPr lang="en-US" sz="2600" dirty="0"/>
          </a:p>
        </p:txBody>
      </p:sp>
      <p:sp>
        <p:nvSpPr>
          <p:cNvPr id="9" name="Text 6"/>
          <p:cNvSpPr/>
          <p:nvPr/>
        </p:nvSpPr>
        <p:spPr>
          <a:xfrm>
            <a:off x="457200" y="2103120"/>
            <a:ext cx="8229600" cy="914400"/>
          </a:xfrm>
          <a:prstGeom prst="rect">
            <a:avLst/>
          </a:prstGeom>
          <a:noFill/>
          <a:ln/>
        </p:spPr>
        <p:txBody>
          <a:bodyPr wrap="square" lIns="0" tIns="0" rIns="0" bIns="0" rtlCol="0" anchor="t"/>
          <a:lstStyle/>
          <a:p>
            <a:pPr indent="0" marL="0">
              <a:spcAft>
                <a:spcPts val="600"/>
              </a:spcAft>
              <a:buNone/>
            </a:pPr>
            <a:r>
              <a:rPr lang="en-US" sz="1300" i="1" dirty="0">
                <a:solidFill>
                  <a:srgbClr val="1A1A1A"/>
                </a:solidFill>
                <a:latin typeface="Georgia" pitchFamily="34" charset="0"/>
                <a:ea typeface="Georgia" pitchFamily="34" charset="-122"/>
                <a:cs typeface="Georgia" pitchFamily="34" charset="-120"/>
              </a:rPr>
              <a:t>Un T3 traversant de 75 m² au cœur d'Orléans, dans un immeuble ancien en pierre du centre historique. Rénovation complète intégralement maîtrisée en interne. Livraison prévue à l'été 2026. Loyer de marché estimé à 1 500 euros par mois.</a:t>
            </a:r>
            <a:endParaRPr lang="en-US" sz="1300" dirty="0"/>
          </a:p>
        </p:txBody>
      </p:sp>
      <p:sp>
        <p:nvSpPr>
          <p:cNvPr id="10" name="Shape 7"/>
          <p:cNvSpPr/>
          <p:nvPr/>
        </p:nvSpPr>
        <p:spPr>
          <a:xfrm>
            <a:off x="548640" y="3246120"/>
            <a:ext cx="1874520" cy="1280160"/>
          </a:xfrm>
          <a:prstGeom prst="rect">
            <a:avLst/>
          </a:prstGeom>
          <a:solidFill>
            <a:srgbClr val="FFFFFF"/>
          </a:solidFill>
          <a:ln w="6350">
            <a:solidFill>
              <a:srgbClr val="E5E0D7"/>
            </a:solidFill>
            <a:prstDash val="solid"/>
          </a:ln>
        </p:spPr>
      </p:sp>
      <p:sp>
        <p:nvSpPr>
          <p:cNvPr id="11" name="Shape 8"/>
          <p:cNvSpPr/>
          <p:nvPr/>
        </p:nvSpPr>
        <p:spPr>
          <a:xfrm>
            <a:off x="548640" y="3246120"/>
            <a:ext cx="45720" cy="1280160"/>
          </a:xfrm>
          <a:prstGeom prst="rect">
            <a:avLst/>
          </a:prstGeom>
          <a:solidFill>
            <a:srgbClr val="B8860B"/>
          </a:solidFill>
          <a:ln w="12700">
            <a:solidFill>
              <a:srgbClr val="B8860B"/>
            </a:solidFill>
            <a:prstDash val="solid"/>
          </a:ln>
        </p:spPr>
      </p:sp>
      <p:sp>
        <p:nvSpPr>
          <p:cNvPr id="12" name="Text 9"/>
          <p:cNvSpPr/>
          <p:nvPr/>
        </p:nvSpPr>
        <p:spPr>
          <a:xfrm>
            <a:off x="731520" y="3520440"/>
            <a:ext cx="160020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75</a:t>
            </a:r>
            <a:pPr algn="ctr" indent="0" marL="0">
              <a:buNone/>
            </a:pPr>
            <a:r>
              <a:rPr lang="en-US" sz="1400" i="1" dirty="0">
                <a:solidFill>
                  <a:srgbClr val="8A7B5C"/>
                </a:solidFill>
                <a:latin typeface="Georgia" pitchFamily="34" charset="0"/>
                <a:ea typeface="Georgia" pitchFamily="34" charset="-122"/>
                <a:cs typeface="Georgia" pitchFamily="34" charset="-120"/>
              </a:rPr>
              <a:t> m²</a:t>
            </a:r>
            <a:endParaRPr lang="en-US" sz="2800" dirty="0"/>
          </a:p>
        </p:txBody>
      </p:sp>
      <p:sp>
        <p:nvSpPr>
          <p:cNvPr id="13" name="Shape 10"/>
          <p:cNvSpPr/>
          <p:nvPr/>
        </p:nvSpPr>
        <p:spPr>
          <a:xfrm>
            <a:off x="1303020" y="4096512"/>
            <a:ext cx="365760" cy="0"/>
          </a:xfrm>
          <a:prstGeom prst="line">
            <a:avLst/>
          </a:prstGeom>
          <a:noFill/>
          <a:ln w="9525">
            <a:solidFill>
              <a:srgbClr val="B8860B"/>
            </a:solidFill>
            <a:prstDash val="solid"/>
          </a:ln>
        </p:spPr>
      </p:sp>
      <p:sp>
        <p:nvSpPr>
          <p:cNvPr id="14" name="Text 11"/>
          <p:cNvSpPr/>
          <p:nvPr/>
        </p:nvSpPr>
        <p:spPr>
          <a:xfrm>
            <a:off x="548640" y="4160520"/>
            <a:ext cx="1874520" cy="274320"/>
          </a:xfrm>
          <a:prstGeom prst="rect">
            <a:avLst/>
          </a:prstGeom>
          <a:noFill/>
          <a:ln/>
        </p:spPr>
        <p:txBody>
          <a:bodyPr wrap="square" lIns="0" tIns="0" rIns="0" bIns="0" rtlCol="0" anchor="ctr"/>
          <a:lstStyle/>
          <a:p>
            <a:pPr algn="ctr" indent="0" marL="0">
              <a:buNone/>
            </a:pPr>
            <a:r>
              <a:rPr lang="en-US" sz="800" spc="400" kern="0" dirty="0">
                <a:solidFill>
                  <a:srgbClr val="8A7B5C"/>
                </a:solidFill>
                <a:latin typeface="Avenir Next LT Pro" pitchFamily="34" charset="0"/>
                <a:ea typeface="Avenir Next LT Pro" pitchFamily="34" charset="-122"/>
                <a:cs typeface="Avenir Next LT Pro" pitchFamily="34" charset="-120"/>
              </a:rPr>
              <a:t>SURFACE CARREZ</a:t>
            </a:r>
            <a:endParaRPr lang="en-US" sz="800" dirty="0"/>
          </a:p>
        </p:txBody>
      </p:sp>
      <p:sp>
        <p:nvSpPr>
          <p:cNvPr id="15" name="Shape 12"/>
          <p:cNvSpPr/>
          <p:nvPr/>
        </p:nvSpPr>
        <p:spPr>
          <a:xfrm>
            <a:off x="2606040" y="3246120"/>
            <a:ext cx="1874520" cy="1280160"/>
          </a:xfrm>
          <a:prstGeom prst="rect">
            <a:avLst/>
          </a:prstGeom>
          <a:solidFill>
            <a:srgbClr val="FFFFFF"/>
          </a:solidFill>
          <a:ln w="6350">
            <a:solidFill>
              <a:srgbClr val="E5E0D7"/>
            </a:solidFill>
            <a:prstDash val="solid"/>
          </a:ln>
        </p:spPr>
      </p:sp>
      <p:sp>
        <p:nvSpPr>
          <p:cNvPr id="16" name="Shape 13"/>
          <p:cNvSpPr/>
          <p:nvPr/>
        </p:nvSpPr>
        <p:spPr>
          <a:xfrm>
            <a:off x="2606040" y="3246120"/>
            <a:ext cx="45720" cy="1280160"/>
          </a:xfrm>
          <a:prstGeom prst="rect">
            <a:avLst/>
          </a:prstGeom>
          <a:solidFill>
            <a:srgbClr val="B8860B"/>
          </a:solidFill>
          <a:ln w="12700">
            <a:solidFill>
              <a:srgbClr val="B8860B"/>
            </a:solidFill>
            <a:prstDash val="solid"/>
          </a:ln>
        </p:spPr>
      </p:sp>
      <p:sp>
        <p:nvSpPr>
          <p:cNvPr id="17" name="Text 14"/>
          <p:cNvSpPr/>
          <p:nvPr/>
        </p:nvSpPr>
        <p:spPr>
          <a:xfrm>
            <a:off x="2788920" y="3520440"/>
            <a:ext cx="160020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T3</a:t>
            </a:r>
            <a:pPr algn="ctr" indent="0" marL="0">
              <a:buNone/>
            </a:pPr>
            <a:endParaRPr lang="en-US" sz="2800" dirty="0"/>
          </a:p>
        </p:txBody>
      </p:sp>
      <p:sp>
        <p:nvSpPr>
          <p:cNvPr id="18" name="Shape 15"/>
          <p:cNvSpPr/>
          <p:nvPr/>
        </p:nvSpPr>
        <p:spPr>
          <a:xfrm>
            <a:off x="3360420" y="4096512"/>
            <a:ext cx="365760" cy="0"/>
          </a:xfrm>
          <a:prstGeom prst="line">
            <a:avLst/>
          </a:prstGeom>
          <a:noFill/>
          <a:ln w="9525">
            <a:solidFill>
              <a:srgbClr val="B8860B"/>
            </a:solidFill>
            <a:prstDash val="solid"/>
          </a:ln>
        </p:spPr>
      </p:sp>
      <p:sp>
        <p:nvSpPr>
          <p:cNvPr id="19" name="Text 16"/>
          <p:cNvSpPr/>
          <p:nvPr/>
        </p:nvSpPr>
        <p:spPr>
          <a:xfrm>
            <a:off x="2606040" y="4160520"/>
            <a:ext cx="1874520" cy="274320"/>
          </a:xfrm>
          <a:prstGeom prst="rect">
            <a:avLst/>
          </a:prstGeom>
          <a:noFill/>
          <a:ln/>
        </p:spPr>
        <p:txBody>
          <a:bodyPr wrap="square" lIns="0" tIns="0" rIns="0" bIns="0" rtlCol="0" anchor="ctr"/>
          <a:lstStyle/>
          <a:p>
            <a:pPr algn="ctr" indent="0" marL="0">
              <a:buNone/>
            </a:pPr>
            <a:r>
              <a:rPr lang="en-US" sz="800" spc="400" kern="0" dirty="0">
                <a:solidFill>
                  <a:srgbClr val="8A7B5C"/>
                </a:solidFill>
                <a:latin typeface="Avenir Next LT Pro" pitchFamily="34" charset="0"/>
                <a:ea typeface="Avenir Next LT Pro" pitchFamily="34" charset="-122"/>
                <a:cs typeface="Avenir Next LT Pro" pitchFamily="34" charset="-120"/>
              </a:rPr>
              <a:t>TYPOLOGIE</a:t>
            </a:r>
            <a:endParaRPr lang="en-US" sz="800" dirty="0"/>
          </a:p>
        </p:txBody>
      </p:sp>
      <p:sp>
        <p:nvSpPr>
          <p:cNvPr id="20" name="Shape 17"/>
          <p:cNvSpPr/>
          <p:nvPr/>
        </p:nvSpPr>
        <p:spPr>
          <a:xfrm>
            <a:off x="4663440" y="3246120"/>
            <a:ext cx="1874520" cy="1280160"/>
          </a:xfrm>
          <a:prstGeom prst="rect">
            <a:avLst/>
          </a:prstGeom>
          <a:solidFill>
            <a:srgbClr val="FFFFFF"/>
          </a:solidFill>
          <a:ln w="6350">
            <a:solidFill>
              <a:srgbClr val="E5E0D7"/>
            </a:solidFill>
            <a:prstDash val="solid"/>
          </a:ln>
        </p:spPr>
      </p:sp>
      <p:sp>
        <p:nvSpPr>
          <p:cNvPr id="21" name="Shape 18"/>
          <p:cNvSpPr/>
          <p:nvPr/>
        </p:nvSpPr>
        <p:spPr>
          <a:xfrm>
            <a:off x="4663440" y="3246120"/>
            <a:ext cx="45720" cy="1280160"/>
          </a:xfrm>
          <a:prstGeom prst="rect">
            <a:avLst/>
          </a:prstGeom>
          <a:solidFill>
            <a:srgbClr val="B8860B"/>
          </a:solidFill>
          <a:ln w="12700">
            <a:solidFill>
              <a:srgbClr val="B8860B"/>
            </a:solidFill>
            <a:prstDash val="solid"/>
          </a:ln>
        </p:spPr>
      </p:sp>
      <p:sp>
        <p:nvSpPr>
          <p:cNvPr id="22" name="Text 19"/>
          <p:cNvSpPr/>
          <p:nvPr/>
        </p:nvSpPr>
        <p:spPr>
          <a:xfrm>
            <a:off x="4846320" y="3520440"/>
            <a:ext cx="160020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1 500</a:t>
            </a:r>
            <a:pPr algn="ctr" indent="0" marL="0">
              <a:buNone/>
            </a:pPr>
            <a:r>
              <a:rPr lang="en-US" sz="1400" i="1" dirty="0">
                <a:solidFill>
                  <a:srgbClr val="8A7B5C"/>
                </a:solidFill>
                <a:latin typeface="Georgia" pitchFamily="34" charset="0"/>
                <a:ea typeface="Georgia" pitchFamily="34" charset="-122"/>
                <a:cs typeface="Georgia" pitchFamily="34" charset="-120"/>
              </a:rPr>
              <a:t> €</a:t>
            </a:r>
            <a:endParaRPr lang="en-US" sz="2800" dirty="0"/>
          </a:p>
        </p:txBody>
      </p:sp>
      <p:sp>
        <p:nvSpPr>
          <p:cNvPr id="23" name="Shape 20"/>
          <p:cNvSpPr/>
          <p:nvPr/>
        </p:nvSpPr>
        <p:spPr>
          <a:xfrm>
            <a:off x="5417820" y="4096512"/>
            <a:ext cx="365760" cy="0"/>
          </a:xfrm>
          <a:prstGeom prst="line">
            <a:avLst/>
          </a:prstGeom>
          <a:noFill/>
          <a:ln w="9525">
            <a:solidFill>
              <a:srgbClr val="B8860B"/>
            </a:solidFill>
            <a:prstDash val="solid"/>
          </a:ln>
        </p:spPr>
      </p:sp>
      <p:sp>
        <p:nvSpPr>
          <p:cNvPr id="24" name="Text 21"/>
          <p:cNvSpPr/>
          <p:nvPr/>
        </p:nvSpPr>
        <p:spPr>
          <a:xfrm>
            <a:off x="4663440" y="4160520"/>
            <a:ext cx="1874520" cy="274320"/>
          </a:xfrm>
          <a:prstGeom prst="rect">
            <a:avLst/>
          </a:prstGeom>
          <a:noFill/>
          <a:ln/>
        </p:spPr>
        <p:txBody>
          <a:bodyPr wrap="square" lIns="0" tIns="0" rIns="0" bIns="0" rtlCol="0" anchor="ctr"/>
          <a:lstStyle/>
          <a:p>
            <a:pPr algn="ctr" indent="0" marL="0">
              <a:buNone/>
            </a:pPr>
            <a:r>
              <a:rPr lang="en-US" sz="800" spc="400" kern="0" dirty="0">
                <a:solidFill>
                  <a:srgbClr val="8A7B5C"/>
                </a:solidFill>
                <a:latin typeface="Avenir Next LT Pro" pitchFamily="34" charset="0"/>
                <a:ea typeface="Avenir Next LT Pro" pitchFamily="34" charset="-122"/>
                <a:cs typeface="Avenir Next LT Pro" pitchFamily="34" charset="-120"/>
              </a:rPr>
              <a:t>LOYER MENSUEL</a:t>
            </a:r>
            <a:endParaRPr lang="en-US" sz="800" dirty="0"/>
          </a:p>
        </p:txBody>
      </p:sp>
      <p:sp>
        <p:nvSpPr>
          <p:cNvPr id="25" name="Shape 22"/>
          <p:cNvSpPr/>
          <p:nvPr/>
        </p:nvSpPr>
        <p:spPr>
          <a:xfrm>
            <a:off x="6720840" y="3246120"/>
            <a:ext cx="1874520" cy="1280160"/>
          </a:xfrm>
          <a:prstGeom prst="rect">
            <a:avLst/>
          </a:prstGeom>
          <a:solidFill>
            <a:srgbClr val="FFFFFF"/>
          </a:solidFill>
          <a:ln w="6350">
            <a:solidFill>
              <a:srgbClr val="E5E0D7"/>
            </a:solidFill>
            <a:prstDash val="solid"/>
          </a:ln>
        </p:spPr>
      </p:sp>
      <p:sp>
        <p:nvSpPr>
          <p:cNvPr id="26" name="Shape 23"/>
          <p:cNvSpPr/>
          <p:nvPr/>
        </p:nvSpPr>
        <p:spPr>
          <a:xfrm>
            <a:off x="6720840" y="3246120"/>
            <a:ext cx="45720" cy="1280160"/>
          </a:xfrm>
          <a:prstGeom prst="rect">
            <a:avLst/>
          </a:prstGeom>
          <a:solidFill>
            <a:srgbClr val="B8860B"/>
          </a:solidFill>
          <a:ln w="12700">
            <a:solidFill>
              <a:srgbClr val="B8860B"/>
            </a:solidFill>
            <a:prstDash val="solid"/>
          </a:ln>
        </p:spPr>
      </p:sp>
      <p:sp>
        <p:nvSpPr>
          <p:cNvPr id="27" name="Text 24"/>
          <p:cNvSpPr/>
          <p:nvPr/>
        </p:nvSpPr>
        <p:spPr>
          <a:xfrm>
            <a:off x="6903720" y="3520440"/>
            <a:ext cx="160020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Été</a:t>
            </a:r>
            <a:pPr algn="ctr" indent="0" marL="0">
              <a:buNone/>
            </a:pPr>
            <a:r>
              <a:rPr lang="en-US" sz="1400" i="1" dirty="0">
                <a:solidFill>
                  <a:srgbClr val="8A7B5C"/>
                </a:solidFill>
                <a:latin typeface="Georgia" pitchFamily="34" charset="0"/>
                <a:ea typeface="Georgia" pitchFamily="34" charset="-122"/>
                <a:cs typeface="Georgia" pitchFamily="34" charset="-120"/>
              </a:rPr>
              <a:t> 2026</a:t>
            </a:r>
            <a:endParaRPr lang="en-US" sz="2800" dirty="0"/>
          </a:p>
        </p:txBody>
      </p:sp>
      <p:sp>
        <p:nvSpPr>
          <p:cNvPr id="28" name="Shape 25"/>
          <p:cNvSpPr/>
          <p:nvPr/>
        </p:nvSpPr>
        <p:spPr>
          <a:xfrm>
            <a:off x="7475220" y="4096512"/>
            <a:ext cx="365760" cy="0"/>
          </a:xfrm>
          <a:prstGeom prst="line">
            <a:avLst/>
          </a:prstGeom>
          <a:noFill/>
          <a:ln w="9525">
            <a:solidFill>
              <a:srgbClr val="B8860B"/>
            </a:solidFill>
            <a:prstDash val="solid"/>
          </a:ln>
        </p:spPr>
      </p:sp>
      <p:sp>
        <p:nvSpPr>
          <p:cNvPr id="29" name="Text 26"/>
          <p:cNvSpPr/>
          <p:nvPr/>
        </p:nvSpPr>
        <p:spPr>
          <a:xfrm>
            <a:off x="6720840" y="4160520"/>
            <a:ext cx="1874520" cy="274320"/>
          </a:xfrm>
          <a:prstGeom prst="rect">
            <a:avLst/>
          </a:prstGeom>
          <a:noFill/>
          <a:ln/>
        </p:spPr>
        <p:txBody>
          <a:bodyPr wrap="square" lIns="0" tIns="0" rIns="0" bIns="0" rtlCol="0" anchor="ctr"/>
          <a:lstStyle/>
          <a:p>
            <a:pPr algn="ctr" indent="0" marL="0">
              <a:buNone/>
            </a:pPr>
            <a:r>
              <a:rPr lang="en-US" sz="800" spc="400" kern="0" dirty="0">
                <a:solidFill>
                  <a:srgbClr val="8A7B5C"/>
                </a:solidFill>
                <a:latin typeface="Avenir Next LT Pro" pitchFamily="34" charset="0"/>
                <a:ea typeface="Avenir Next LT Pro" pitchFamily="34" charset="-122"/>
                <a:cs typeface="Avenir Next LT Pro" pitchFamily="34" charset="-120"/>
              </a:rPr>
              <a:t>LIVRAISON</a:t>
            </a:r>
            <a:endParaRPr lang="en-US" sz="800" dirty="0"/>
          </a:p>
        </p:txBody>
      </p:sp>
      <p:sp>
        <p:nvSpPr>
          <p:cNvPr id="30" name="Shape 27"/>
          <p:cNvSpPr/>
          <p:nvPr/>
        </p:nvSpPr>
        <p:spPr>
          <a:xfrm>
            <a:off x="457200" y="4800600"/>
            <a:ext cx="8229600" cy="0"/>
          </a:xfrm>
          <a:prstGeom prst="line">
            <a:avLst/>
          </a:prstGeom>
          <a:noFill/>
          <a:ln w="6350">
            <a:solidFill>
              <a:srgbClr val="E5E0D7"/>
            </a:solidFill>
            <a:prstDash val="solid"/>
          </a:ln>
        </p:spPr>
      </p:sp>
      <p:sp>
        <p:nvSpPr>
          <p:cNvPr id="31" name="Text 28"/>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2" name="Text 29"/>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01  ·  PRÉSENTATION DE L'OPPORTUNITÉ (SUITE)</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LE BIEN</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Caractéristiques détaillées</a:t>
            </a:r>
            <a:endParaRPr lang="en-US" sz="2600" dirty="0"/>
          </a:p>
        </p:txBody>
      </p:sp>
      <p:sp>
        <p:nvSpPr>
          <p:cNvPr id="9" name="Text 6"/>
          <p:cNvSpPr/>
          <p:nvPr/>
        </p:nvSpPr>
        <p:spPr>
          <a:xfrm>
            <a:off x="457200" y="2103120"/>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Typologie</a:t>
            </a:r>
            <a:endParaRPr lang="en-US" sz="900" dirty="0"/>
          </a:p>
        </p:txBody>
      </p:sp>
      <p:sp>
        <p:nvSpPr>
          <p:cNvPr id="10" name="Text 7"/>
          <p:cNvSpPr/>
          <p:nvPr/>
        </p:nvSpPr>
        <p:spPr>
          <a:xfrm>
            <a:off x="2194560" y="2103120"/>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T3 traversant</a:t>
            </a:r>
            <a:endParaRPr lang="en-US" sz="1200" dirty="0"/>
          </a:p>
        </p:txBody>
      </p:sp>
      <p:sp>
        <p:nvSpPr>
          <p:cNvPr id="11" name="Shape 8"/>
          <p:cNvSpPr/>
          <p:nvPr/>
        </p:nvSpPr>
        <p:spPr>
          <a:xfrm>
            <a:off x="457200" y="2414016"/>
            <a:ext cx="3931920" cy="0"/>
          </a:xfrm>
          <a:prstGeom prst="line">
            <a:avLst/>
          </a:prstGeom>
          <a:noFill/>
          <a:ln w="3810">
            <a:solidFill>
              <a:srgbClr val="E5E0D7"/>
            </a:solidFill>
            <a:prstDash val="solid"/>
          </a:ln>
        </p:spPr>
      </p:sp>
      <p:sp>
        <p:nvSpPr>
          <p:cNvPr id="12" name="Text 9"/>
          <p:cNvSpPr/>
          <p:nvPr/>
        </p:nvSpPr>
        <p:spPr>
          <a:xfrm>
            <a:off x="457200" y="2432304"/>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Surface Carrez</a:t>
            </a:r>
            <a:endParaRPr lang="en-US" sz="900" dirty="0"/>
          </a:p>
        </p:txBody>
      </p:sp>
      <p:sp>
        <p:nvSpPr>
          <p:cNvPr id="13" name="Text 10"/>
          <p:cNvSpPr/>
          <p:nvPr/>
        </p:nvSpPr>
        <p:spPr>
          <a:xfrm>
            <a:off x="2194560" y="2432304"/>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75 m²</a:t>
            </a:r>
            <a:endParaRPr lang="en-US" sz="1200" dirty="0"/>
          </a:p>
        </p:txBody>
      </p:sp>
      <p:sp>
        <p:nvSpPr>
          <p:cNvPr id="14" name="Shape 11"/>
          <p:cNvSpPr/>
          <p:nvPr/>
        </p:nvSpPr>
        <p:spPr>
          <a:xfrm>
            <a:off x="457200" y="2743200"/>
            <a:ext cx="3931920" cy="0"/>
          </a:xfrm>
          <a:prstGeom prst="line">
            <a:avLst/>
          </a:prstGeom>
          <a:noFill/>
          <a:ln w="3810">
            <a:solidFill>
              <a:srgbClr val="E5E0D7"/>
            </a:solidFill>
            <a:prstDash val="solid"/>
          </a:ln>
        </p:spPr>
      </p:sp>
      <p:sp>
        <p:nvSpPr>
          <p:cNvPr id="15" name="Text 12"/>
          <p:cNvSpPr/>
          <p:nvPr/>
        </p:nvSpPr>
        <p:spPr>
          <a:xfrm>
            <a:off x="457200" y="2761488"/>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Étage</a:t>
            </a:r>
            <a:endParaRPr lang="en-US" sz="900" dirty="0"/>
          </a:p>
        </p:txBody>
      </p:sp>
      <p:sp>
        <p:nvSpPr>
          <p:cNvPr id="16" name="Text 13"/>
          <p:cNvSpPr/>
          <p:nvPr/>
        </p:nvSpPr>
        <p:spPr>
          <a:xfrm>
            <a:off x="2194560" y="2761488"/>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Rez de chaussée</a:t>
            </a:r>
            <a:endParaRPr lang="en-US" sz="1200" dirty="0"/>
          </a:p>
        </p:txBody>
      </p:sp>
      <p:sp>
        <p:nvSpPr>
          <p:cNvPr id="17" name="Shape 14"/>
          <p:cNvSpPr/>
          <p:nvPr/>
        </p:nvSpPr>
        <p:spPr>
          <a:xfrm>
            <a:off x="457200" y="3072384"/>
            <a:ext cx="3931920" cy="0"/>
          </a:xfrm>
          <a:prstGeom prst="line">
            <a:avLst/>
          </a:prstGeom>
          <a:noFill/>
          <a:ln w="3810">
            <a:solidFill>
              <a:srgbClr val="E5E0D7"/>
            </a:solidFill>
            <a:prstDash val="solid"/>
          </a:ln>
        </p:spPr>
      </p:sp>
      <p:sp>
        <p:nvSpPr>
          <p:cNvPr id="18" name="Text 15"/>
          <p:cNvSpPr/>
          <p:nvPr/>
        </p:nvSpPr>
        <p:spPr>
          <a:xfrm>
            <a:off x="457200" y="3090672"/>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Exposition</a:t>
            </a:r>
            <a:endParaRPr lang="en-US" sz="900" dirty="0"/>
          </a:p>
        </p:txBody>
      </p:sp>
      <p:sp>
        <p:nvSpPr>
          <p:cNvPr id="19" name="Text 16"/>
          <p:cNvSpPr/>
          <p:nvPr/>
        </p:nvSpPr>
        <p:spPr>
          <a:xfrm>
            <a:off x="2194560" y="3090672"/>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Sud</a:t>
            </a:r>
            <a:endParaRPr lang="en-US" sz="1200" dirty="0"/>
          </a:p>
        </p:txBody>
      </p:sp>
      <p:sp>
        <p:nvSpPr>
          <p:cNvPr id="20" name="Shape 17"/>
          <p:cNvSpPr/>
          <p:nvPr/>
        </p:nvSpPr>
        <p:spPr>
          <a:xfrm>
            <a:off x="457200" y="3401568"/>
            <a:ext cx="3931920" cy="0"/>
          </a:xfrm>
          <a:prstGeom prst="line">
            <a:avLst/>
          </a:prstGeom>
          <a:noFill/>
          <a:ln w="3810">
            <a:solidFill>
              <a:srgbClr val="E5E0D7"/>
            </a:solidFill>
            <a:prstDash val="solid"/>
          </a:ln>
        </p:spPr>
      </p:sp>
      <p:sp>
        <p:nvSpPr>
          <p:cNvPr id="21" name="Text 18"/>
          <p:cNvSpPr/>
          <p:nvPr/>
        </p:nvSpPr>
        <p:spPr>
          <a:xfrm>
            <a:off x="457200" y="3419856"/>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Immeuble</a:t>
            </a:r>
            <a:endParaRPr lang="en-US" sz="900" dirty="0"/>
          </a:p>
        </p:txBody>
      </p:sp>
      <p:sp>
        <p:nvSpPr>
          <p:cNvPr id="22" name="Text 19"/>
          <p:cNvSpPr/>
          <p:nvPr/>
        </p:nvSpPr>
        <p:spPr>
          <a:xfrm>
            <a:off x="2194560" y="3419856"/>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Ancien en pierre, centre</a:t>
            </a:r>
            <a:endParaRPr lang="en-US" sz="1200" dirty="0"/>
          </a:p>
        </p:txBody>
      </p:sp>
      <p:sp>
        <p:nvSpPr>
          <p:cNvPr id="23" name="Shape 20"/>
          <p:cNvSpPr/>
          <p:nvPr/>
        </p:nvSpPr>
        <p:spPr>
          <a:xfrm>
            <a:off x="457200" y="3730752"/>
            <a:ext cx="3931920" cy="0"/>
          </a:xfrm>
          <a:prstGeom prst="line">
            <a:avLst/>
          </a:prstGeom>
          <a:noFill/>
          <a:ln w="3810">
            <a:solidFill>
              <a:srgbClr val="E5E0D7"/>
            </a:solidFill>
            <a:prstDash val="solid"/>
          </a:ln>
        </p:spPr>
      </p:sp>
      <p:sp>
        <p:nvSpPr>
          <p:cNvPr id="24" name="Text 21"/>
          <p:cNvSpPr/>
          <p:nvPr/>
        </p:nvSpPr>
        <p:spPr>
          <a:xfrm>
            <a:off x="457200" y="3749040"/>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Cuisine</a:t>
            </a:r>
            <a:endParaRPr lang="en-US" sz="900" dirty="0"/>
          </a:p>
        </p:txBody>
      </p:sp>
      <p:sp>
        <p:nvSpPr>
          <p:cNvPr id="25" name="Text 22"/>
          <p:cNvSpPr/>
          <p:nvPr/>
        </p:nvSpPr>
        <p:spPr>
          <a:xfrm>
            <a:off x="2194560" y="3749040"/>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Entièrement équipée</a:t>
            </a:r>
            <a:endParaRPr lang="en-US" sz="1200" dirty="0"/>
          </a:p>
        </p:txBody>
      </p:sp>
      <p:sp>
        <p:nvSpPr>
          <p:cNvPr id="26" name="Shape 23"/>
          <p:cNvSpPr/>
          <p:nvPr/>
        </p:nvSpPr>
        <p:spPr>
          <a:xfrm>
            <a:off x="457200" y="4059936"/>
            <a:ext cx="3931920" cy="0"/>
          </a:xfrm>
          <a:prstGeom prst="line">
            <a:avLst/>
          </a:prstGeom>
          <a:noFill/>
          <a:ln w="3810">
            <a:solidFill>
              <a:srgbClr val="E5E0D7"/>
            </a:solidFill>
            <a:prstDash val="solid"/>
          </a:ln>
        </p:spPr>
      </p:sp>
      <p:sp>
        <p:nvSpPr>
          <p:cNvPr id="27" name="Text 24"/>
          <p:cNvSpPr/>
          <p:nvPr/>
        </p:nvSpPr>
        <p:spPr>
          <a:xfrm>
            <a:off x="457200" y="4078224"/>
            <a:ext cx="1645920" cy="292608"/>
          </a:xfrm>
          <a:prstGeom prst="rect">
            <a:avLst/>
          </a:prstGeom>
          <a:noFill/>
          <a:ln/>
        </p:spPr>
        <p:txBody>
          <a:bodyPr wrap="square" lIns="0" tIns="0" rIns="0" bIns="0" rtlCol="0" anchor="ctr"/>
          <a:lstStyle/>
          <a:p>
            <a:pPr indent="0" marL="0">
              <a:buNone/>
            </a:pPr>
            <a:r>
              <a:rPr lang="en-US" sz="900" spc="200" kern="0" dirty="0">
                <a:solidFill>
                  <a:srgbClr val="8A7B5C"/>
                </a:solidFill>
                <a:latin typeface="Avenir Next LT Pro" pitchFamily="34" charset="0"/>
                <a:ea typeface="Avenir Next LT Pro" pitchFamily="34" charset="-122"/>
                <a:cs typeface="Avenir Next LT Pro" pitchFamily="34" charset="-120"/>
              </a:rPr>
              <a:t>Chauffage</a:t>
            </a:r>
            <a:endParaRPr lang="en-US" sz="900" dirty="0"/>
          </a:p>
        </p:txBody>
      </p:sp>
      <p:sp>
        <p:nvSpPr>
          <p:cNvPr id="28" name="Text 25"/>
          <p:cNvSpPr/>
          <p:nvPr/>
        </p:nvSpPr>
        <p:spPr>
          <a:xfrm>
            <a:off x="2194560" y="4078224"/>
            <a:ext cx="2194560" cy="292608"/>
          </a:xfrm>
          <a:prstGeom prst="rect">
            <a:avLst/>
          </a:prstGeom>
          <a:noFill/>
          <a:ln/>
        </p:spPr>
        <p:txBody>
          <a:bodyPr wrap="square" lIns="0" tIns="0" rIns="0" bIns="0" rtlCol="0" anchor="ctr"/>
          <a:lstStyle/>
          <a:p>
            <a:pPr indent="0" marL="0">
              <a:buNone/>
            </a:pPr>
            <a:r>
              <a:rPr lang="en-US" sz="1200" dirty="0">
                <a:solidFill>
                  <a:srgbClr val="1A1A1A"/>
                </a:solidFill>
                <a:latin typeface="Georgia" pitchFamily="34" charset="0"/>
                <a:ea typeface="Georgia" pitchFamily="34" charset="-122"/>
                <a:cs typeface="Georgia" pitchFamily="34" charset="-120"/>
              </a:rPr>
              <a:t>Électrique individuel</a:t>
            </a:r>
            <a:endParaRPr lang="en-US" sz="1200" dirty="0"/>
          </a:p>
        </p:txBody>
      </p:sp>
      <p:sp>
        <p:nvSpPr>
          <p:cNvPr id="29" name="Shape 26"/>
          <p:cNvSpPr/>
          <p:nvPr/>
        </p:nvSpPr>
        <p:spPr>
          <a:xfrm>
            <a:off x="457200" y="4389120"/>
            <a:ext cx="3931920" cy="0"/>
          </a:xfrm>
          <a:prstGeom prst="line">
            <a:avLst/>
          </a:prstGeom>
          <a:noFill/>
          <a:ln w="3810">
            <a:solidFill>
              <a:srgbClr val="E5E0D7"/>
            </a:solidFill>
            <a:prstDash val="solid"/>
          </a:ln>
        </p:spPr>
      </p:sp>
      <p:sp>
        <p:nvSpPr>
          <p:cNvPr id="30" name="Shape 27"/>
          <p:cNvSpPr/>
          <p:nvPr/>
        </p:nvSpPr>
        <p:spPr>
          <a:xfrm>
            <a:off x="4937760" y="2103120"/>
            <a:ext cx="3749040" cy="2468880"/>
          </a:xfrm>
          <a:prstGeom prst="rect">
            <a:avLst/>
          </a:prstGeom>
          <a:solidFill>
            <a:srgbClr val="FAFAF8"/>
          </a:solidFill>
          <a:ln w="6350">
            <a:solidFill>
              <a:srgbClr val="E5E0D7"/>
            </a:solidFill>
            <a:prstDash val="solid"/>
          </a:ln>
        </p:spPr>
      </p:sp>
      <p:sp>
        <p:nvSpPr>
          <p:cNvPr id="31" name="Shape 28"/>
          <p:cNvSpPr/>
          <p:nvPr/>
        </p:nvSpPr>
        <p:spPr>
          <a:xfrm>
            <a:off x="4937760" y="2103120"/>
            <a:ext cx="3749040" cy="73152"/>
          </a:xfrm>
          <a:prstGeom prst="rect">
            <a:avLst/>
          </a:prstGeom>
          <a:solidFill>
            <a:srgbClr val="B8860B"/>
          </a:solidFill>
          <a:ln w="12700">
            <a:solidFill>
              <a:srgbClr val="B8860B"/>
            </a:solidFill>
            <a:prstDash val="solid"/>
          </a:ln>
        </p:spPr>
      </p:sp>
      <p:sp>
        <p:nvSpPr>
          <p:cNvPr id="32" name="Text 29"/>
          <p:cNvSpPr/>
          <p:nvPr/>
        </p:nvSpPr>
        <p:spPr>
          <a:xfrm>
            <a:off x="4937760" y="3063240"/>
            <a:ext cx="3749040" cy="274320"/>
          </a:xfrm>
          <a:prstGeom prst="rect">
            <a:avLst/>
          </a:prstGeom>
          <a:noFill/>
          <a:ln/>
        </p:spPr>
        <p:txBody>
          <a:bodyPr wrap="square" lIns="0" tIns="0" rIns="0" bIns="0" rtlCol="0" anchor="ctr"/>
          <a:lstStyle/>
          <a:p>
            <a:pPr algn="ctr" indent="0" marL="0">
              <a:buNone/>
            </a:pPr>
            <a:r>
              <a:rPr lang="en-US" sz="900" b="1" spc="500" kern="0" dirty="0">
                <a:solidFill>
                  <a:srgbClr val="8A7B5C"/>
                </a:solidFill>
                <a:latin typeface="Avenir Next LT Pro" pitchFamily="34" charset="0"/>
                <a:ea typeface="Avenir Next LT Pro" pitchFamily="34" charset="-122"/>
                <a:cs typeface="Avenir Next LT Pro" pitchFamily="34" charset="-120"/>
              </a:rPr>
              <a:t>PLAN ARCHITECTE</a:t>
            </a:r>
            <a:endParaRPr lang="en-US" sz="900" dirty="0"/>
          </a:p>
        </p:txBody>
      </p:sp>
      <p:sp>
        <p:nvSpPr>
          <p:cNvPr id="33" name="Text 30"/>
          <p:cNvSpPr/>
          <p:nvPr/>
        </p:nvSpPr>
        <p:spPr>
          <a:xfrm>
            <a:off x="4937760" y="3383280"/>
            <a:ext cx="3749040" cy="274320"/>
          </a:xfrm>
          <a:prstGeom prst="rect">
            <a:avLst/>
          </a:prstGeom>
          <a:noFill/>
          <a:ln/>
        </p:spPr>
        <p:txBody>
          <a:bodyPr wrap="square" lIns="0" tIns="0" rIns="0" bIns="0" rtlCol="0" anchor="ctr"/>
          <a:lstStyle/>
          <a:p>
            <a:pPr algn="ctr" indent="0" marL="0">
              <a:buNone/>
            </a:pPr>
            <a:r>
              <a:rPr lang="en-US" sz="1100" i="1" dirty="0">
                <a:solidFill>
                  <a:srgbClr val="B5A77E"/>
                </a:solidFill>
                <a:latin typeface="Georgia" pitchFamily="34" charset="0"/>
                <a:ea typeface="Georgia" pitchFamily="34" charset="-122"/>
                <a:cs typeface="Georgia" pitchFamily="34" charset="-120"/>
              </a:rPr>
              <a:t>À insérer</a:t>
            </a:r>
            <a:endParaRPr lang="en-US" sz="1100" dirty="0"/>
          </a:p>
        </p:txBody>
      </p:sp>
      <p:sp>
        <p:nvSpPr>
          <p:cNvPr id="34" name="Shape 31"/>
          <p:cNvSpPr/>
          <p:nvPr/>
        </p:nvSpPr>
        <p:spPr>
          <a:xfrm>
            <a:off x="457200" y="4800600"/>
            <a:ext cx="8229600" cy="0"/>
          </a:xfrm>
          <a:prstGeom prst="line">
            <a:avLst/>
          </a:prstGeom>
          <a:noFill/>
          <a:ln w="6350">
            <a:solidFill>
              <a:srgbClr val="E5E0D7"/>
            </a:solidFill>
            <a:prstDash val="solid"/>
          </a:ln>
        </p:spPr>
      </p:sp>
      <p:sp>
        <p:nvSpPr>
          <p:cNvPr id="35" name="Text 32"/>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6" name="Text 33"/>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02  ·  STRUCTURATION DE L'OPÉRATION</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MODALITÉS</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Conditions financières</a:t>
            </a:r>
            <a:endParaRPr lang="en-US" sz="2600" dirty="0"/>
          </a:p>
        </p:txBody>
      </p:sp>
      <p:sp>
        <p:nvSpPr>
          <p:cNvPr id="9" name="Shape 6"/>
          <p:cNvSpPr/>
          <p:nvPr/>
        </p:nvSpPr>
        <p:spPr>
          <a:xfrm>
            <a:off x="457200" y="2103120"/>
            <a:ext cx="4023360" cy="1188720"/>
          </a:xfrm>
          <a:prstGeom prst="rect">
            <a:avLst/>
          </a:prstGeom>
          <a:solidFill>
            <a:srgbClr val="FFFFFF"/>
          </a:solidFill>
          <a:ln w="6350">
            <a:solidFill>
              <a:srgbClr val="E5E0D7"/>
            </a:solidFill>
            <a:prstDash val="solid"/>
          </a:ln>
        </p:spPr>
      </p:sp>
      <p:sp>
        <p:nvSpPr>
          <p:cNvPr id="10" name="Shape 7"/>
          <p:cNvSpPr/>
          <p:nvPr/>
        </p:nvSpPr>
        <p:spPr>
          <a:xfrm>
            <a:off x="457200" y="2103120"/>
            <a:ext cx="45720" cy="1188720"/>
          </a:xfrm>
          <a:prstGeom prst="rect">
            <a:avLst/>
          </a:prstGeom>
          <a:solidFill>
            <a:srgbClr val="B8860B"/>
          </a:solidFill>
          <a:ln w="12700">
            <a:solidFill>
              <a:srgbClr val="B8860B"/>
            </a:solidFill>
            <a:prstDash val="solid"/>
          </a:ln>
        </p:spPr>
      </p:sp>
      <p:sp>
        <p:nvSpPr>
          <p:cNvPr id="11" name="Text 8"/>
          <p:cNvSpPr/>
          <p:nvPr/>
        </p:nvSpPr>
        <p:spPr>
          <a:xfrm>
            <a:off x="731520" y="2286000"/>
            <a:ext cx="3566160" cy="228600"/>
          </a:xfrm>
          <a:prstGeom prst="rect">
            <a:avLst/>
          </a:prstGeom>
          <a:noFill/>
          <a:ln/>
        </p:spPr>
        <p:txBody>
          <a:bodyPr wrap="square" lIns="0" tIns="0" rIns="0" bIns="0" rtlCol="0" anchor="ctr"/>
          <a:lstStyle/>
          <a:p>
            <a:pP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PRIX DE VENTE</a:t>
            </a:r>
            <a:endParaRPr lang="en-US" sz="900" dirty="0"/>
          </a:p>
        </p:txBody>
      </p:sp>
      <p:sp>
        <p:nvSpPr>
          <p:cNvPr id="12" name="Text 9"/>
          <p:cNvSpPr/>
          <p:nvPr/>
        </p:nvSpPr>
        <p:spPr>
          <a:xfrm>
            <a:off x="731520" y="2560320"/>
            <a:ext cx="3566160" cy="457200"/>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À finaliser</a:t>
            </a:r>
            <a:endParaRPr lang="en-US" sz="2400" dirty="0"/>
          </a:p>
        </p:txBody>
      </p:sp>
      <p:sp>
        <p:nvSpPr>
          <p:cNvPr id="13" name="Text 10"/>
          <p:cNvSpPr/>
          <p:nvPr/>
        </p:nvSpPr>
        <p:spPr>
          <a:xfrm>
            <a:off x="731520" y="3017520"/>
            <a:ext cx="3566160" cy="228600"/>
          </a:xfrm>
          <a:prstGeom prst="rect">
            <a:avLst/>
          </a:prstGeom>
          <a:noFill/>
          <a:ln/>
        </p:spPr>
        <p:txBody>
          <a:bodyPr wrap="square" lIns="0" tIns="0" rIns="0" bIns="0" rtlCol="0" anchor="ctr"/>
          <a:lstStyle/>
          <a:p>
            <a:pPr indent="0" marL="0">
              <a:buNone/>
            </a:pPr>
            <a:r>
              <a:rPr lang="en-US" sz="1000" i="1" dirty="0">
                <a:solidFill>
                  <a:srgbClr val="8A7B5C"/>
                </a:solidFill>
                <a:latin typeface="Georgia" pitchFamily="34" charset="0"/>
                <a:ea typeface="Georgia" pitchFamily="34" charset="-122"/>
                <a:cs typeface="Georgia" pitchFamily="34" charset="-120"/>
              </a:rPr>
              <a:t>Net vendeur, clés en main</a:t>
            </a:r>
            <a:endParaRPr lang="en-US" sz="1000" dirty="0"/>
          </a:p>
        </p:txBody>
      </p:sp>
      <p:sp>
        <p:nvSpPr>
          <p:cNvPr id="14" name="Shape 11"/>
          <p:cNvSpPr/>
          <p:nvPr/>
        </p:nvSpPr>
        <p:spPr>
          <a:xfrm>
            <a:off x="4663440" y="2103120"/>
            <a:ext cx="4023360" cy="1188720"/>
          </a:xfrm>
          <a:prstGeom prst="rect">
            <a:avLst/>
          </a:prstGeom>
          <a:solidFill>
            <a:srgbClr val="FFFFFF"/>
          </a:solidFill>
          <a:ln w="6350">
            <a:solidFill>
              <a:srgbClr val="E5E0D7"/>
            </a:solidFill>
            <a:prstDash val="solid"/>
          </a:ln>
        </p:spPr>
      </p:sp>
      <p:sp>
        <p:nvSpPr>
          <p:cNvPr id="15" name="Shape 12"/>
          <p:cNvSpPr/>
          <p:nvPr/>
        </p:nvSpPr>
        <p:spPr>
          <a:xfrm>
            <a:off x="4663440" y="2103120"/>
            <a:ext cx="45720" cy="1188720"/>
          </a:xfrm>
          <a:prstGeom prst="rect">
            <a:avLst/>
          </a:prstGeom>
          <a:solidFill>
            <a:srgbClr val="B8860B"/>
          </a:solidFill>
          <a:ln w="12700">
            <a:solidFill>
              <a:srgbClr val="B8860B"/>
            </a:solidFill>
            <a:prstDash val="solid"/>
          </a:ln>
        </p:spPr>
      </p:sp>
      <p:sp>
        <p:nvSpPr>
          <p:cNvPr id="16" name="Text 13"/>
          <p:cNvSpPr/>
          <p:nvPr/>
        </p:nvSpPr>
        <p:spPr>
          <a:xfrm>
            <a:off x="4937760" y="2286000"/>
            <a:ext cx="3566160" cy="228600"/>
          </a:xfrm>
          <a:prstGeom prst="rect">
            <a:avLst/>
          </a:prstGeom>
          <a:noFill/>
          <a:ln/>
        </p:spPr>
        <p:txBody>
          <a:bodyPr wrap="square" lIns="0" tIns="0" rIns="0" bIns="0" rtlCol="0" anchor="ctr"/>
          <a:lstStyle/>
          <a:p>
            <a:pP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FRAIS DE MUTATION</a:t>
            </a:r>
            <a:endParaRPr lang="en-US" sz="900" dirty="0"/>
          </a:p>
        </p:txBody>
      </p:sp>
      <p:sp>
        <p:nvSpPr>
          <p:cNvPr id="17" name="Text 14"/>
          <p:cNvSpPr/>
          <p:nvPr/>
        </p:nvSpPr>
        <p:spPr>
          <a:xfrm>
            <a:off x="4937760" y="2560320"/>
            <a:ext cx="3566160" cy="457200"/>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7,5 %</a:t>
            </a:r>
            <a:endParaRPr lang="en-US" sz="2400" dirty="0"/>
          </a:p>
        </p:txBody>
      </p:sp>
      <p:sp>
        <p:nvSpPr>
          <p:cNvPr id="18" name="Text 15"/>
          <p:cNvSpPr/>
          <p:nvPr/>
        </p:nvSpPr>
        <p:spPr>
          <a:xfrm>
            <a:off x="4937760" y="3017520"/>
            <a:ext cx="3566160" cy="228600"/>
          </a:xfrm>
          <a:prstGeom prst="rect">
            <a:avLst/>
          </a:prstGeom>
          <a:noFill/>
          <a:ln/>
        </p:spPr>
        <p:txBody>
          <a:bodyPr wrap="square" lIns="0" tIns="0" rIns="0" bIns="0" rtlCol="0" anchor="ctr"/>
          <a:lstStyle/>
          <a:p>
            <a:pPr indent="0" marL="0">
              <a:buNone/>
            </a:pPr>
            <a:r>
              <a:rPr lang="en-US" sz="1000" i="1" dirty="0">
                <a:solidFill>
                  <a:srgbClr val="8A7B5C"/>
                </a:solidFill>
                <a:latin typeface="Georgia" pitchFamily="34" charset="0"/>
                <a:ea typeface="Georgia" pitchFamily="34" charset="-122"/>
                <a:cs typeface="Georgia" pitchFamily="34" charset="-120"/>
              </a:rPr>
              <a:t>Indicatif, à confirmer notaire</a:t>
            </a:r>
            <a:endParaRPr lang="en-US" sz="1000" dirty="0"/>
          </a:p>
        </p:txBody>
      </p:sp>
      <p:sp>
        <p:nvSpPr>
          <p:cNvPr id="19" name="Shape 16"/>
          <p:cNvSpPr/>
          <p:nvPr/>
        </p:nvSpPr>
        <p:spPr>
          <a:xfrm>
            <a:off x="457200" y="3474720"/>
            <a:ext cx="4023360" cy="1188720"/>
          </a:xfrm>
          <a:prstGeom prst="rect">
            <a:avLst/>
          </a:prstGeom>
          <a:solidFill>
            <a:srgbClr val="FFFFFF"/>
          </a:solidFill>
          <a:ln w="6350">
            <a:solidFill>
              <a:srgbClr val="E5E0D7"/>
            </a:solidFill>
            <a:prstDash val="solid"/>
          </a:ln>
        </p:spPr>
      </p:sp>
      <p:sp>
        <p:nvSpPr>
          <p:cNvPr id="20" name="Shape 17"/>
          <p:cNvSpPr/>
          <p:nvPr/>
        </p:nvSpPr>
        <p:spPr>
          <a:xfrm>
            <a:off x="457200" y="3474720"/>
            <a:ext cx="45720" cy="1188720"/>
          </a:xfrm>
          <a:prstGeom prst="rect">
            <a:avLst/>
          </a:prstGeom>
          <a:solidFill>
            <a:srgbClr val="B8860B"/>
          </a:solidFill>
          <a:ln w="12700">
            <a:solidFill>
              <a:srgbClr val="B8860B"/>
            </a:solidFill>
            <a:prstDash val="solid"/>
          </a:ln>
        </p:spPr>
      </p:sp>
      <p:sp>
        <p:nvSpPr>
          <p:cNvPr id="21" name="Text 18"/>
          <p:cNvSpPr/>
          <p:nvPr/>
        </p:nvSpPr>
        <p:spPr>
          <a:xfrm>
            <a:off x="731520" y="3657600"/>
            <a:ext cx="3566160" cy="228600"/>
          </a:xfrm>
          <a:prstGeom prst="rect">
            <a:avLst/>
          </a:prstGeom>
          <a:noFill/>
          <a:ln/>
        </p:spPr>
        <p:txBody>
          <a:bodyPr wrap="square" lIns="0" tIns="0" rIns="0" bIns="0" rtlCol="0" anchor="ctr"/>
          <a:lstStyle/>
          <a:p>
            <a:pP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LOYER ANNUEL ESTIMÉ</a:t>
            </a:r>
            <a:endParaRPr lang="en-US" sz="900" dirty="0"/>
          </a:p>
        </p:txBody>
      </p:sp>
      <p:sp>
        <p:nvSpPr>
          <p:cNvPr id="22" name="Text 19"/>
          <p:cNvSpPr/>
          <p:nvPr/>
        </p:nvSpPr>
        <p:spPr>
          <a:xfrm>
            <a:off x="731520" y="3931920"/>
            <a:ext cx="3566160" cy="457200"/>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18 000 €</a:t>
            </a:r>
            <a:endParaRPr lang="en-US" sz="2400" dirty="0"/>
          </a:p>
        </p:txBody>
      </p:sp>
      <p:sp>
        <p:nvSpPr>
          <p:cNvPr id="23" name="Text 20"/>
          <p:cNvSpPr/>
          <p:nvPr/>
        </p:nvSpPr>
        <p:spPr>
          <a:xfrm>
            <a:off x="731520" y="4389120"/>
            <a:ext cx="3566160" cy="228600"/>
          </a:xfrm>
          <a:prstGeom prst="rect">
            <a:avLst/>
          </a:prstGeom>
          <a:noFill/>
          <a:ln/>
        </p:spPr>
        <p:txBody>
          <a:bodyPr wrap="square" lIns="0" tIns="0" rIns="0" bIns="0" rtlCol="0" anchor="ctr"/>
          <a:lstStyle/>
          <a:p>
            <a:pPr indent="0" marL="0">
              <a:buNone/>
            </a:pPr>
            <a:r>
              <a:rPr lang="en-US" sz="1000" i="1" dirty="0">
                <a:solidFill>
                  <a:srgbClr val="8A7B5C"/>
                </a:solidFill>
                <a:latin typeface="Georgia" pitchFamily="34" charset="0"/>
                <a:ea typeface="Georgia" pitchFamily="34" charset="-122"/>
                <a:cs typeface="Georgia" pitchFamily="34" charset="-120"/>
              </a:rPr>
              <a:t>Soit 1 500 euros par mois</a:t>
            </a:r>
            <a:endParaRPr lang="en-US" sz="1000" dirty="0"/>
          </a:p>
        </p:txBody>
      </p:sp>
      <p:sp>
        <p:nvSpPr>
          <p:cNvPr id="24" name="Shape 21"/>
          <p:cNvSpPr/>
          <p:nvPr/>
        </p:nvSpPr>
        <p:spPr>
          <a:xfrm>
            <a:off x="4663440" y="3474720"/>
            <a:ext cx="4023360" cy="1188720"/>
          </a:xfrm>
          <a:prstGeom prst="rect">
            <a:avLst/>
          </a:prstGeom>
          <a:solidFill>
            <a:srgbClr val="FFFFFF"/>
          </a:solidFill>
          <a:ln w="6350">
            <a:solidFill>
              <a:srgbClr val="E5E0D7"/>
            </a:solidFill>
            <a:prstDash val="solid"/>
          </a:ln>
        </p:spPr>
      </p:sp>
      <p:sp>
        <p:nvSpPr>
          <p:cNvPr id="25" name="Shape 22"/>
          <p:cNvSpPr/>
          <p:nvPr/>
        </p:nvSpPr>
        <p:spPr>
          <a:xfrm>
            <a:off x="4663440" y="3474720"/>
            <a:ext cx="45720" cy="1188720"/>
          </a:xfrm>
          <a:prstGeom prst="rect">
            <a:avLst/>
          </a:prstGeom>
          <a:solidFill>
            <a:srgbClr val="B8860B"/>
          </a:solidFill>
          <a:ln w="12700">
            <a:solidFill>
              <a:srgbClr val="B8860B"/>
            </a:solidFill>
            <a:prstDash val="solid"/>
          </a:ln>
        </p:spPr>
      </p:sp>
      <p:sp>
        <p:nvSpPr>
          <p:cNvPr id="26" name="Text 23"/>
          <p:cNvSpPr/>
          <p:nvPr/>
        </p:nvSpPr>
        <p:spPr>
          <a:xfrm>
            <a:off x="4937760" y="3657600"/>
            <a:ext cx="3566160" cy="228600"/>
          </a:xfrm>
          <a:prstGeom prst="rect">
            <a:avLst/>
          </a:prstGeom>
          <a:noFill/>
          <a:ln/>
        </p:spPr>
        <p:txBody>
          <a:bodyPr wrap="square" lIns="0" tIns="0" rIns="0" bIns="0" rtlCol="0" anchor="ctr"/>
          <a:lstStyle/>
          <a:p>
            <a:pP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RENDEMENT BRUT</a:t>
            </a:r>
            <a:endParaRPr lang="en-US" sz="900" dirty="0"/>
          </a:p>
        </p:txBody>
      </p:sp>
      <p:sp>
        <p:nvSpPr>
          <p:cNvPr id="27" name="Text 24"/>
          <p:cNvSpPr/>
          <p:nvPr/>
        </p:nvSpPr>
        <p:spPr>
          <a:xfrm>
            <a:off x="4937760" y="3931920"/>
            <a:ext cx="3566160" cy="457200"/>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À calculer</a:t>
            </a:r>
            <a:endParaRPr lang="en-US" sz="2400" dirty="0"/>
          </a:p>
        </p:txBody>
      </p:sp>
      <p:sp>
        <p:nvSpPr>
          <p:cNvPr id="28" name="Text 25"/>
          <p:cNvSpPr/>
          <p:nvPr/>
        </p:nvSpPr>
        <p:spPr>
          <a:xfrm>
            <a:off x="4937760" y="4389120"/>
            <a:ext cx="3566160" cy="228600"/>
          </a:xfrm>
          <a:prstGeom prst="rect">
            <a:avLst/>
          </a:prstGeom>
          <a:noFill/>
          <a:ln/>
        </p:spPr>
        <p:txBody>
          <a:bodyPr wrap="square" lIns="0" tIns="0" rIns="0" bIns="0" rtlCol="0" anchor="ctr"/>
          <a:lstStyle/>
          <a:p>
            <a:pPr indent="0" marL="0">
              <a:buNone/>
            </a:pPr>
            <a:r>
              <a:rPr lang="en-US" sz="1000" i="1" dirty="0">
                <a:solidFill>
                  <a:srgbClr val="8A7B5C"/>
                </a:solidFill>
                <a:latin typeface="Georgia" pitchFamily="34" charset="0"/>
                <a:ea typeface="Georgia" pitchFamily="34" charset="-122"/>
                <a:cs typeface="Georgia" pitchFamily="34" charset="-120"/>
              </a:rPr>
              <a:t>Sur prix de vente final</a:t>
            </a:r>
            <a:endParaRPr lang="en-US" sz="1000" dirty="0"/>
          </a:p>
        </p:txBody>
      </p:sp>
      <p:sp>
        <p:nvSpPr>
          <p:cNvPr id="29" name="Shape 26"/>
          <p:cNvSpPr/>
          <p:nvPr/>
        </p:nvSpPr>
        <p:spPr>
          <a:xfrm>
            <a:off x="457200" y="4800600"/>
            <a:ext cx="8229600" cy="0"/>
          </a:xfrm>
          <a:prstGeom prst="line">
            <a:avLst/>
          </a:prstGeom>
          <a:noFill/>
          <a:ln w="6350">
            <a:solidFill>
              <a:srgbClr val="E5E0D7"/>
            </a:solidFill>
            <a:prstDash val="solid"/>
          </a:ln>
        </p:spPr>
      </p:sp>
      <p:sp>
        <p:nvSpPr>
          <p:cNvPr id="30" name="Text 27"/>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1" name="Text 28"/>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03  ·  PRÉSENTATION DE L'OPÉRATEUR</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L'OPÉRATEUR</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IRIS Real Estate Partners</a:t>
            </a:r>
            <a:endParaRPr lang="en-US" sz="2600" dirty="0"/>
          </a:p>
        </p:txBody>
      </p:sp>
      <p:sp>
        <p:nvSpPr>
          <p:cNvPr id="9" name="Text 6"/>
          <p:cNvSpPr/>
          <p:nvPr/>
        </p:nvSpPr>
        <p:spPr>
          <a:xfrm>
            <a:off x="457200" y="2103120"/>
            <a:ext cx="8229600" cy="777240"/>
          </a:xfrm>
          <a:prstGeom prst="rect">
            <a:avLst/>
          </a:prstGeom>
          <a:noFill/>
          <a:ln/>
        </p:spPr>
        <p:txBody>
          <a:bodyPr wrap="square" lIns="0" tIns="0" rIns="0" bIns="0" rtlCol="0" anchor="t"/>
          <a:lstStyle/>
          <a:p>
            <a:pPr indent="0" marL="0">
              <a:buNone/>
            </a:pPr>
            <a:r>
              <a:rPr lang="en-US" sz="1200" i="1" dirty="0">
                <a:solidFill>
                  <a:srgbClr val="1A1A1A"/>
                </a:solidFill>
                <a:latin typeface="Georgia" pitchFamily="34" charset="0"/>
                <a:ea typeface="Georgia" pitchFamily="34" charset="-122"/>
                <a:cs typeface="Georgia" pitchFamily="34" charset="-120"/>
              </a:rPr>
              <a:t>IRIS REP structure des opérations immobilières en Île de France et en Région Centre Val de Loire. Sourcing exclusif, montage maîtrisé, exécution travaux confiée à BYM Construction, partenaire dédié du groupe IRIS H. Investisseurs accompagnés clés en main.</a:t>
            </a:r>
            <a:endParaRPr lang="en-US" sz="1200" dirty="0"/>
          </a:p>
        </p:txBody>
      </p:sp>
      <p:sp>
        <p:nvSpPr>
          <p:cNvPr id="10" name="Shape 7"/>
          <p:cNvSpPr/>
          <p:nvPr/>
        </p:nvSpPr>
        <p:spPr>
          <a:xfrm>
            <a:off x="361188" y="2971800"/>
            <a:ext cx="2697480" cy="1691640"/>
          </a:xfrm>
          <a:prstGeom prst="rect">
            <a:avLst/>
          </a:prstGeom>
          <a:solidFill>
            <a:srgbClr val="FFFFFF"/>
          </a:solidFill>
          <a:ln w="6350">
            <a:solidFill>
              <a:srgbClr val="E5E0D7"/>
            </a:solidFill>
            <a:prstDash val="solid"/>
          </a:ln>
        </p:spPr>
      </p:sp>
      <p:sp>
        <p:nvSpPr>
          <p:cNvPr id="11" name="Text 8"/>
          <p:cNvSpPr/>
          <p:nvPr/>
        </p:nvSpPr>
        <p:spPr>
          <a:xfrm>
            <a:off x="635508" y="3154680"/>
            <a:ext cx="914400" cy="457200"/>
          </a:xfrm>
          <a:prstGeom prst="rect">
            <a:avLst/>
          </a:prstGeom>
          <a:noFill/>
          <a:ln/>
        </p:spPr>
        <p:txBody>
          <a:bodyPr wrap="square" lIns="0" tIns="0" rIns="0" bIns="0" rtlCol="0" anchor="ctr"/>
          <a:lstStyle/>
          <a:p>
            <a:pPr indent="0" marL="0">
              <a:buNone/>
            </a:pPr>
            <a:r>
              <a:rPr lang="en-US" sz="2600" i="1" dirty="0">
                <a:solidFill>
                  <a:srgbClr val="B8860B"/>
                </a:solidFill>
                <a:latin typeface="Georgia" pitchFamily="34" charset="0"/>
                <a:ea typeface="Georgia" pitchFamily="34" charset="-122"/>
                <a:cs typeface="Georgia" pitchFamily="34" charset="-120"/>
              </a:rPr>
              <a:t>01</a:t>
            </a:r>
            <a:endParaRPr lang="en-US" sz="2600" dirty="0"/>
          </a:p>
        </p:txBody>
      </p:sp>
      <p:sp>
        <p:nvSpPr>
          <p:cNvPr id="12" name="Shape 9"/>
          <p:cNvSpPr/>
          <p:nvPr/>
        </p:nvSpPr>
        <p:spPr>
          <a:xfrm>
            <a:off x="635508" y="3685032"/>
            <a:ext cx="320040" cy="0"/>
          </a:xfrm>
          <a:prstGeom prst="line">
            <a:avLst/>
          </a:prstGeom>
          <a:noFill/>
          <a:ln w="19050">
            <a:solidFill>
              <a:srgbClr val="B8860B"/>
            </a:solidFill>
            <a:prstDash val="solid"/>
          </a:ln>
        </p:spPr>
      </p:sp>
      <p:sp>
        <p:nvSpPr>
          <p:cNvPr id="13" name="Text 10"/>
          <p:cNvSpPr/>
          <p:nvPr/>
        </p:nvSpPr>
        <p:spPr>
          <a:xfrm>
            <a:off x="635508" y="3776472"/>
            <a:ext cx="2148840" cy="320040"/>
          </a:xfrm>
          <a:prstGeom prst="rect">
            <a:avLst/>
          </a:prstGeom>
          <a:noFill/>
          <a:ln/>
        </p:spPr>
        <p:txBody>
          <a:bodyPr wrap="square" lIns="0" tIns="0" rIns="0" bIns="0" rtlCol="0" anchor="ctr"/>
          <a:lstStyle/>
          <a:p>
            <a:pPr indent="0" marL="0">
              <a:buNone/>
            </a:pPr>
            <a:r>
              <a:rPr lang="en-US" sz="1000" b="1" spc="300" kern="0" dirty="0">
                <a:solidFill>
                  <a:srgbClr val="1A1A1A"/>
                </a:solidFill>
                <a:latin typeface="Avenir Next LT Pro" pitchFamily="34" charset="0"/>
                <a:ea typeface="Avenir Next LT Pro" pitchFamily="34" charset="-122"/>
                <a:cs typeface="Avenir Next LT Pro" pitchFamily="34" charset="-120"/>
              </a:rPr>
              <a:t>SOURCING EXCLUSIF</a:t>
            </a:r>
            <a:endParaRPr lang="en-US" sz="1000" dirty="0"/>
          </a:p>
        </p:txBody>
      </p:sp>
      <p:sp>
        <p:nvSpPr>
          <p:cNvPr id="14" name="Text 11"/>
          <p:cNvSpPr/>
          <p:nvPr/>
        </p:nvSpPr>
        <p:spPr>
          <a:xfrm>
            <a:off x="635508" y="4087368"/>
            <a:ext cx="2148840" cy="548640"/>
          </a:xfrm>
          <a:prstGeom prst="rect">
            <a:avLst/>
          </a:prstGeom>
          <a:noFill/>
          <a:ln/>
        </p:spPr>
        <p:txBody>
          <a:bodyPr wrap="square" lIns="0" tIns="0" rIns="0" bIns="0" rtlCol="0" anchor="t"/>
          <a:lstStyle/>
          <a:p>
            <a:pPr indent="0" marL="0">
              <a:buNone/>
            </a:pPr>
            <a:r>
              <a:rPr lang="en-US" sz="1000" i="1" dirty="0">
                <a:solidFill>
                  <a:srgbClr val="8A7B5C"/>
                </a:solidFill>
                <a:latin typeface="Georgia" pitchFamily="34" charset="0"/>
                <a:ea typeface="Georgia" pitchFamily="34" charset="-122"/>
                <a:cs typeface="Georgia" pitchFamily="34" charset="-120"/>
              </a:rPr>
              <a:t>Repérage de biens à fort potentiel dans les hyper centres d'Orléans et de Tours, en off market.</a:t>
            </a:r>
            <a:endParaRPr lang="en-US" sz="1000" dirty="0"/>
          </a:p>
        </p:txBody>
      </p:sp>
      <p:sp>
        <p:nvSpPr>
          <p:cNvPr id="15" name="Shape 12"/>
          <p:cNvSpPr/>
          <p:nvPr/>
        </p:nvSpPr>
        <p:spPr>
          <a:xfrm>
            <a:off x="3223260" y="2971800"/>
            <a:ext cx="2697480" cy="1691640"/>
          </a:xfrm>
          <a:prstGeom prst="rect">
            <a:avLst/>
          </a:prstGeom>
          <a:solidFill>
            <a:srgbClr val="FFFFFF"/>
          </a:solidFill>
          <a:ln w="6350">
            <a:solidFill>
              <a:srgbClr val="E5E0D7"/>
            </a:solidFill>
            <a:prstDash val="solid"/>
          </a:ln>
        </p:spPr>
      </p:sp>
      <p:sp>
        <p:nvSpPr>
          <p:cNvPr id="16" name="Text 13"/>
          <p:cNvSpPr/>
          <p:nvPr/>
        </p:nvSpPr>
        <p:spPr>
          <a:xfrm>
            <a:off x="3497580" y="3154680"/>
            <a:ext cx="914400" cy="457200"/>
          </a:xfrm>
          <a:prstGeom prst="rect">
            <a:avLst/>
          </a:prstGeom>
          <a:noFill/>
          <a:ln/>
        </p:spPr>
        <p:txBody>
          <a:bodyPr wrap="square" lIns="0" tIns="0" rIns="0" bIns="0" rtlCol="0" anchor="ctr"/>
          <a:lstStyle/>
          <a:p>
            <a:pPr indent="0" marL="0">
              <a:buNone/>
            </a:pPr>
            <a:r>
              <a:rPr lang="en-US" sz="2600" i="1" dirty="0">
                <a:solidFill>
                  <a:srgbClr val="B8860B"/>
                </a:solidFill>
                <a:latin typeface="Georgia" pitchFamily="34" charset="0"/>
                <a:ea typeface="Georgia" pitchFamily="34" charset="-122"/>
                <a:cs typeface="Georgia" pitchFamily="34" charset="-120"/>
              </a:rPr>
              <a:t>02</a:t>
            </a:r>
            <a:endParaRPr lang="en-US" sz="2600" dirty="0"/>
          </a:p>
        </p:txBody>
      </p:sp>
      <p:sp>
        <p:nvSpPr>
          <p:cNvPr id="17" name="Shape 14"/>
          <p:cNvSpPr/>
          <p:nvPr/>
        </p:nvSpPr>
        <p:spPr>
          <a:xfrm>
            <a:off x="3497580" y="3685032"/>
            <a:ext cx="320040" cy="0"/>
          </a:xfrm>
          <a:prstGeom prst="line">
            <a:avLst/>
          </a:prstGeom>
          <a:noFill/>
          <a:ln w="19050">
            <a:solidFill>
              <a:srgbClr val="B8860B"/>
            </a:solidFill>
            <a:prstDash val="solid"/>
          </a:ln>
        </p:spPr>
      </p:sp>
      <p:sp>
        <p:nvSpPr>
          <p:cNvPr id="18" name="Text 15"/>
          <p:cNvSpPr/>
          <p:nvPr/>
        </p:nvSpPr>
        <p:spPr>
          <a:xfrm>
            <a:off x="3497580" y="3776472"/>
            <a:ext cx="2148840" cy="320040"/>
          </a:xfrm>
          <a:prstGeom prst="rect">
            <a:avLst/>
          </a:prstGeom>
          <a:noFill/>
          <a:ln/>
        </p:spPr>
        <p:txBody>
          <a:bodyPr wrap="square" lIns="0" tIns="0" rIns="0" bIns="0" rtlCol="0" anchor="ctr"/>
          <a:lstStyle/>
          <a:p>
            <a:pPr indent="0" marL="0">
              <a:buNone/>
            </a:pPr>
            <a:r>
              <a:rPr lang="en-US" sz="1000" b="1" spc="300" kern="0" dirty="0">
                <a:solidFill>
                  <a:srgbClr val="1A1A1A"/>
                </a:solidFill>
                <a:latin typeface="Avenir Next LT Pro" pitchFamily="34" charset="0"/>
                <a:ea typeface="Avenir Next LT Pro" pitchFamily="34" charset="-122"/>
                <a:cs typeface="Avenir Next LT Pro" pitchFamily="34" charset="-120"/>
              </a:rPr>
              <a:t>MONTAGE MAÎTRISÉ</a:t>
            </a:r>
            <a:endParaRPr lang="en-US" sz="1000" dirty="0"/>
          </a:p>
        </p:txBody>
      </p:sp>
      <p:sp>
        <p:nvSpPr>
          <p:cNvPr id="19" name="Text 16"/>
          <p:cNvSpPr/>
          <p:nvPr/>
        </p:nvSpPr>
        <p:spPr>
          <a:xfrm>
            <a:off x="3497580" y="4087368"/>
            <a:ext cx="2148840" cy="548640"/>
          </a:xfrm>
          <a:prstGeom prst="rect">
            <a:avLst/>
          </a:prstGeom>
          <a:noFill/>
          <a:ln/>
        </p:spPr>
        <p:txBody>
          <a:bodyPr wrap="square" lIns="0" tIns="0" rIns="0" bIns="0" rtlCol="0" anchor="t"/>
          <a:lstStyle/>
          <a:p>
            <a:pPr indent="0" marL="0">
              <a:buNone/>
            </a:pPr>
            <a:r>
              <a:rPr lang="en-US" sz="1000" i="1" dirty="0">
                <a:solidFill>
                  <a:srgbClr val="8A7B5C"/>
                </a:solidFill>
                <a:latin typeface="Georgia" pitchFamily="34" charset="0"/>
                <a:ea typeface="Georgia" pitchFamily="34" charset="-122"/>
                <a:cs typeface="Georgia" pitchFamily="34" charset="-120"/>
              </a:rPr>
              <a:t>Études, autorisations, financement, calendrier coordonnés en interne par les équipes du groupe.</a:t>
            </a:r>
            <a:endParaRPr lang="en-US" sz="1000" dirty="0"/>
          </a:p>
        </p:txBody>
      </p:sp>
      <p:sp>
        <p:nvSpPr>
          <p:cNvPr id="20" name="Shape 17"/>
          <p:cNvSpPr/>
          <p:nvPr/>
        </p:nvSpPr>
        <p:spPr>
          <a:xfrm>
            <a:off x="6085332" y="2971800"/>
            <a:ext cx="2697480" cy="1691640"/>
          </a:xfrm>
          <a:prstGeom prst="rect">
            <a:avLst/>
          </a:prstGeom>
          <a:solidFill>
            <a:srgbClr val="FFFFFF"/>
          </a:solidFill>
          <a:ln w="6350">
            <a:solidFill>
              <a:srgbClr val="E5E0D7"/>
            </a:solidFill>
            <a:prstDash val="solid"/>
          </a:ln>
        </p:spPr>
      </p:sp>
      <p:sp>
        <p:nvSpPr>
          <p:cNvPr id="21" name="Text 18"/>
          <p:cNvSpPr/>
          <p:nvPr/>
        </p:nvSpPr>
        <p:spPr>
          <a:xfrm>
            <a:off x="6359652" y="3154680"/>
            <a:ext cx="914400" cy="457200"/>
          </a:xfrm>
          <a:prstGeom prst="rect">
            <a:avLst/>
          </a:prstGeom>
          <a:noFill/>
          <a:ln/>
        </p:spPr>
        <p:txBody>
          <a:bodyPr wrap="square" lIns="0" tIns="0" rIns="0" bIns="0" rtlCol="0" anchor="ctr"/>
          <a:lstStyle/>
          <a:p>
            <a:pPr indent="0" marL="0">
              <a:buNone/>
            </a:pPr>
            <a:r>
              <a:rPr lang="en-US" sz="2600" i="1" dirty="0">
                <a:solidFill>
                  <a:srgbClr val="B8860B"/>
                </a:solidFill>
                <a:latin typeface="Georgia" pitchFamily="34" charset="0"/>
                <a:ea typeface="Georgia" pitchFamily="34" charset="-122"/>
                <a:cs typeface="Georgia" pitchFamily="34" charset="-120"/>
              </a:rPr>
              <a:t>03</a:t>
            </a:r>
            <a:endParaRPr lang="en-US" sz="2600" dirty="0"/>
          </a:p>
        </p:txBody>
      </p:sp>
      <p:sp>
        <p:nvSpPr>
          <p:cNvPr id="22" name="Shape 19"/>
          <p:cNvSpPr/>
          <p:nvPr/>
        </p:nvSpPr>
        <p:spPr>
          <a:xfrm>
            <a:off x="6359652" y="3685032"/>
            <a:ext cx="320040" cy="0"/>
          </a:xfrm>
          <a:prstGeom prst="line">
            <a:avLst/>
          </a:prstGeom>
          <a:noFill/>
          <a:ln w="19050">
            <a:solidFill>
              <a:srgbClr val="B8860B"/>
            </a:solidFill>
            <a:prstDash val="solid"/>
          </a:ln>
        </p:spPr>
      </p:sp>
      <p:sp>
        <p:nvSpPr>
          <p:cNvPr id="23" name="Text 20"/>
          <p:cNvSpPr/>
          <p:nvPr/>
        </p:nvSpPr>
        <p:spPr>
          <a:xfrm>
            <a:off x="6359652" y="3776472"/>
            <a:ext cx="2148840" cy="320040"/>
          </a:xfrm>
          <a:prstGeom prst="rect">
            <a:avLst/>
          </a:prstGeom>
          <a:noFill/>
          <a:ln/>
        </p:spPr>
        <p:txBody>
          <a:bodyPr wrap="square" lIns="0" tIns="0" rIns="0" bIns="0" rtlCol="0" anchor="ctr"/>
          <a:lstStyle/>
          <a:p>
            <a:pPr indent="0" marL="0">
              <a:buNone/>
            </a:pPr>
            <a:r>
              <a:rPr lang="en-US" sz="1000" b="1" spc="300" kern="0" dirty="0">
                <a:solidFill>
                  <a:srgbClr val="1A1A1A"/>
                </a:solidFill>
                <a:latin typeface="Avenir Next LT Pro" pitchFamily="34" charset="0"/>
                <a:ea typeface="Avenir Next LT Pro" pitchFamily="34" charset="-122"/>
                <a:cs typeface="Avenir Next LT Pro" pitchFamily="34" charset="-120"/>
              </a:rPr>
              <a:t>EXÉCUTION BYM</a:t>
            </a:r>
            <a:endParaRPr lang="en-US" sz="1000" dirty="0"/>
          </a:p>
        </p:txBody>
      </p:sp>
      <p:sp>
        <p:nvSpPr>
          <p:cNvPr id="24" name="Text 21"/>
          <p:cNvSpPr/>
          <p:nvPr/>
        </p:nvSpPr>
        <p:spPr>
          <a:xfrm>
            <a:off x="6359652" y="4087368"/>
            <a:ext cx="2148840" cy="548640"/>
          </a:xfrm>
          <a:prstGeom prst="rect">
            <a:avLst/>
          </a:prstGeom>
          <a:noFill/>
          <a:ln/>
        </p:spPr>
        <p:txBody>
          <a:bodyPr wrap="square" lIns="0" tIns="0" rIns="0" bIns="0" rtlCol="0" anchor="t"/>
          <a:lstStyle/>
          <a:p>
            <a:pPr indent="0" marL="0">
              <a:buNone/>
            </a:pPr>
            <a:r>
              <a:rPr lang="en-US" sz="1000" i="1" dirty="0">
                <a:solidFill>
                  <a:srgbClr val="8A7B5C"/>
                </a:solidFill>
                <a:latin typeface="Georgia" pitchFamily="34" charset="0"/>
                <a:ea typeface="Georgia" pitchFamily="34" charset="-122"/>
                <a:cs typeface="Georgia" pitchFamily="34" charset="-120"/>
              </a:rPr>
              <a:t>Travaux confiés à BYM Construction, partenaire travaux dédié pour une qualité d'exécution maîtrisée.</a:t>
            </a:r>
            <a:endParaRPr lang="en-US" sz="1000" dirty="0"/>
          </a:p>
        </p:txBody>
      </p:sp>
      <p:sp>
        <p:nvSpPr>
          <p:cNvPr id="25" name="Shape 22"/>
          <p:cNvSpPr/>
          <p:nvPr/>
        </p:nvSpPr>
        <p:spPr>
          <a:xfrm>
            <a:off x="457200" y="4800600"/>
            <a:ext cx="8229600" cy="0"/>
          </a:xfrm>
          <a:prstGeom prst="line">
            <a:avLst/>
          </a:prstGeom>
          <a:noFill/>
          <a:ln w="6350">
            <a:solidFill>
              <a:srgbClr val="E5E0D7"/>
            </a:solidFill>
            <a:prstDash val="solid"/>
          </a:ln>
        </p:spPr>
      </p:sp>
      <p:sp>
        <p:nvSpPr>
          <p:cNvPr id="26" name="Text 23"/>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27" name="Text 24"/>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04  ·  PLANNING PRÉVISIONNEL</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CALENDRIER</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4 phases, livraison été 2026</a:t>
            </a:r>
            <a:endParaRPr lang="en-US" sz="2600" dirty="0"/>
          </a:p>
        </p:txBody>
      </p:sp>
      <p:sp>
        <p:nvSpPr>
          <p:cNvPr id="9" name="Shape 6"/>
          <p:cNvSpPr/>
          <p:nvPr/>
        </p:nvSpPr>
        <p:spPr>
          <a:xfrm>
            <a:off x="754380" y="3108960"/>
            <a:ext cx="7635240" cy="0"/>
          </a:xfrm>
          <a:prstGeom prst="line">
            <a:avLst/>
          </a:prstGeom>
          <a:noFill/>
          <a:ln w="15240">
            <a:solidFill>
              <a:srgbClr val="E5E0D7"/>
            </a:solidFill>
            <a:prstDash val="solid"/>
          </a:ln>
        </p:spPr>
      </p:sp>
      <p:sp>
        <p:nvSpPr>
          <p:cNvPr id="10" name="Shape 7"/>
          <p:cNvSpPr/>
          <p:nvPr/>
        </p:nvSpPr>
        <p:spPr>
          <a:xfrm>
            <a:off x="1335024" y="3026664"/>
            <a:ext cx="164592" cy="164592"/>
          </a:xfrm>
          <a:prstGeom prst="ellipse">
            <a:avLst/>
          </a:prstGeom>
          <a:solidFill>
            <a:srgbClr val="1A1A1A"/>
          </a:solidFill>
          <a:ln w="12700">
            <a:solidFill>
              <a:srgbClr val="1A1A1A"/>
            </a:solidFill>
            <a:prstDash val="solid"/>
          </a:ln>
        </p:spPr>
      </p:sp>
      <p:sp>
        <p:nvSpPr>
          <p:cNvPr id="11" name="Text 8"/>
          <p:cNvSpPr/>
          <p:nvPr/>
        </p:nvSpPr>
        <p:spPr>
          <a:xfrm>
            <a:off x="480060" y="2651760"/>
            <a:ext cx="1874520" cy="274320"/>
          </a:xfrm>
          <a:prstGeom prst="rect">
            <a:avLst/>
          </a:prstGeom>
          <a:noFill/>
          <a:ln/>
        </p:spPr>
        <p:txBody>
          <a:bodyPr wrap="square" lIns="0" tIns="0" rIns="0" bIns="0" rtlCol="0" anchor="ctr"/>
          <a:lstStyle/>
          <a:p>
            <a:pPr algn="ctr" indent="0" marL="0">
              <a:buNone/>
            </a:pPr>
            <a:r>
              <a:rPr lang="en-US" sz="900" b="1" spc="300" kern="0" dirty="0">
                <a:solidFill>
                  <a:srgbClr val="B8860B"/>
                </a:solidFill>
                <a:latin typeface="Avenir Next LT Pro" pitchFamily="34" charset="0"/>
                <a:ea typeface="Avenir Next LT Pro" pitchFamily="34" charset="-122"/>
                <a:cs typeface="Avenir Next LT Pro" pitchFamily="34" charset="-120"/>
              </a:rPr>
              <a:t>01</a:t>
            </a:r>
            <a:endParaRPr lang="en-US" sz="900" dirty="0"/>
          </a:p>
        </p:txBody>
      </p:sp>
      <p:sp>
        <p:nvSpPr>
          <p:cNvPr id="12" name="Text 9"/>
          <p:cNvSpPr/>
          <p:nvPr/>
        </p:nvSpPr>
        <p:spPr>
          <a:xfrm>
            <a:off x="480060" y="3566160"/>
            <a:ext cx="1874520" cy="320040"/>
          </a:xfrm>
          <a:prstGeom prst="rect">
            <a:avLst/>
          </a:prstGeom>
          <a:noFill/>
          <a:ln/>
        </p:spPr>
        <p:txBody>
          <a:bodyPr wrap="square" lIns="0" tIns="0" rIns="0" bIns="0" rtlCol="0" anchor="ctr"/>
          <a:lstStyle/>
          <a:p>
            <a:pPr algn="ctr" indent="0" marL="0">
              <a:buNone/>
            </a:pPr>
            <a:r>
              <a:rPr lang="en-US" sz="1400" b="1" dirty="0">
                <a:solidFill>
                  <a:srgbClr val="1A1A1A"/>
                </a:solidFill>
                <a:latin typeface="Georgia" pitchFamily="34" charset="0"/>
                <a:ea typeface="Georgia" pitchFamily="34" charset="-122"/>
                <a:cs typeface="Georgia" pitchFamily="34" charset="-120"/>
              </a:rPr>
              <a:t>Acquisition</a:t>
            </a:r>
            <a:endParaRPr lang="en-US" sz="1400" dirty="0"/>
          </a:p>
        </p:txBody>
      </p:sp>
      <p:sp>
        <p:nvSpPr>
          <p:cNvPr id="13" name="Text 10"/>
          <p:cNvSpPr/>
          <p:nvPr/>
        </p:nvSpPr>
        <p:spPr>
          <a:xfrm>
            <a:off x="480060" y="3886200"/>
            <a:ext cx="1874520" cy="274320"/>
          </a:xfrm>
          <a:prstGeom prst="rect">
            <a:avLst/>
          </a:prstGeom>
          <a:noFill/>
          <a:ln/>
        </p:spPr>
        <p:txBody>
          <a:bodyPr wrap="square" lIns="0" tIns="0" rIns="0" bIns="0" rtlCol="0" anchor="ctr"/>
          <a:lstStyle/>
          <a:p>
            <a:pPr algn="ctr" indent="0" marL="0">
              <a:buNone/>
            </a:pPr>
            <a:r>
              <a:rPr lang="en-US" sz="1000" i="1" dirty="0">
                <a:solidFill>
                  <a:srgbClr val="8A7B5C"/>
                </a:solidFill>
                <a:latin typeface="Georgia" pitchFamily="34" charset="0"/>
                <a:ea typeface="Georgia" pitchFamily="34" charset="-122"/>
                <a:cs typeface="Georgia" pitchFamily="34" charset="-120"/>
              </a:rPr>
              <a:t>Sécurisation du bien</a:t>
            </a:r>
            <a:endParaRPr lang="en-US" sz="1000" dirty="0"/>
          </a:p>
        </p:txBody>
      </p:sp>
      <p:sp>
        <p:nvSpPr>
          <p:cNvPr id="14" name="Shape 11"/>
          <p:cNvSpPr/>
          <p:nvPr/>
        </p:nvSpPr>
        <p:spPr>
          <a:xfrm>
            <a:off x="3438144" y="3026664"/>
            <a:ext cx="164592" cy="164592"/>
          </a:xfrm>
          <a:prstGeom prst="ellipse">
            <a:avLst/>
          </a:prstGeom>
          <a:solidFill>
            <a:srgbClr val="1A1A1A"/>
          </a:solidFill>
          <a:ln w="12700">
            <a:solidFill>
              <a:srgbClr val="1A1A1A"/>
            </a:solidFill>
            <a:prstDash val="solid"/>
          </a:ln>
        </p:spPr>
      </p:sp>
      <p:sp>
        <p:nvSpPr>
          <p:cNvPr id="15" name="Text 12"/>
          <p:cNvSpPr/>
          <p:nvPr/>
        </p:nvSpPr>
        <p:spPr>
          <a:xfrm>
            <a:off x="2583180" y="2651760"/>
            <a:ext cx="1874520" cy="274320"/>
          </a:xfrm>
          <a:prstGeom prst="rect">
            <a:avLst/>
          </a:prstGeom>
          <a:noFill/>
          <a:ln/>
        </p:spPr>
        <p:txBody>
          <a:bodyPr wrap="square" lIns="0" tIns="0" rIns="0" bIns="0" rtlCol="0" anchor="ctr"/>
          <a:lstStyle/>
          <a:p>
            <a:pPr algn="ctr" indent="0" marL="0">
              <a:buNone/>
            </a:pPr>
            <a:r>
              <a:rPr lang="en-US" sz="900" b="1" spc="300" kern="0" dirty="0">
                <a:solidFill>
                  <a:srgbClr val="B8860B"/>
                </a:solidFill>
                <a:latin typeface="Avenir Next LT Pro" pitchFamily="34" charset="0"/>
                <a:ea typeface="Avenir Next LT Pro" pitchFamily="34" charset="-122"/>
                <a:cs typeface="Avenir Next LT Pro" pitchFamily="34" charset="-120"/>
              </a:rPr>
              <a:t>02</a:t>
            </a:r>
            <a:endParaRPr lang="en-US" sz="900" dirty="0"/>
          </a:p>
        </p:txBody>
      </p:sp>
      <p:sp>
        <p:nvSpPr>
          <p:cNvPr id="16" name="Text 13"/>
          <p:cNvSpPr/>
          <p:nvPr/>
        </p:nvSpPr>
        <p:spPr>
          <a:xfrm>
            <a:off x="2583180" y="3566160"/>
            <a:ext cx="1874520" cy="320040"/>
          </a:xfrm>
          <a:prstGeom prst="rect">
            <a:avLst/>
          </a:prstGeom>
          <a:noFill/>
          <a:ln/>
        </p:spPr>
        <p:txBody>
          <a:bodyPr wrap="square" lIns="0" tIns="0" rIns="0" bIns="0" rtlCol="0" anchor="ctr"/>
          <a:lstStyle/>
          <a:p>
            <a:pPr algn="ctr" indent="0" marL="0">
              <a:buNone/>
            </a:pPr>
            <a:r>
              <a:rPr lang="en-US" sz="1400" b="1" dirty="0">
                <a:solidFill>
                  <a:srgbClr val="1A1A1A"/>
                </a:solidFill>
                <a:latin typeface="Georgia" pitchFamily="34" charset="0"/>
                <a:ea typeface="Georgia" pitchFamily="34" charset="-122"/>
                <a:cs typeface="Georgia" pitchFamily="34" charset="-120"/>
              </a:rPr>
              <a:t>Études et permis</a:t>
            </a:r>
            <a:endParaRPr lang="en-US" sz="1400" dirty="0"/>
          </a:p>
        </p:txBody>
      </p:sp>
      <p:sp>
        <p:nvSpPr>
          <p:cNvPr id="17" name="Text 14"/>
          <p:cNvSpPr/>
          <p:nvPr/>
        </p:nvSpPr>
        <p:spPr>
          <a:xfrm>
            <a:off x="2583180" y="3886200"/>
            <a:ext cx="1874520" cy="274320"/>
          </a:xfrm>
          <a:prstGeom prst="rect">
            <a:avLst/>
          </a:prstGeom>
          <a:noFill/>
          <a:ln/>
        </p:spPr>
        <p:txBody>
          <a:bodyPr wrap="square" lIns="0" tIns="0" rIns="0" bIns="0" rtlCol="0" anchor="ctr"/>
          <a:lstStyle/>
          <a:p>
            <a:pPr algn="ctr" indent="0" marL="0">
              <a:buNone/>
            </a:pPr>
            <a:r>
              <a:rPr lang="en-US" sz="1000" i="1" dirty="0">
                <a:solidFill>
                  <a:srgbClr val="8A7B5C"/>
                </a:solidFill>
                <a:latin typeface="Georgia" pitchFamily="34" charset="0"/>
                <a:ea typeface="Georgia" pitchFamily="34" charset="-122"/>
                <a:cs typeface="Georgia" pitchFamily="34" charset="-120"/>
              </a:rPr>
              <a:t>Plans, autorisations</a:t>
            </a:r>
            <a:endParaRPr lang="en-US" sz="1000" dirty="0"/>
          </a:p>
        </p:txBody>
      </p:sp>
      <p:sp>
        <p:nvSpPr>
          <p:cNvPr id="18" name="Shape 15"/>
          <p:cNvSpPr/>
          <p:nvPr/>
        </p:nvSpPr>
        <p:spPr>
          <a:xfrm>
            <a:off x="5367528" y="2852928"/>
            <a:ext cx="512064" cy="512064"/>
          </a:xfrm>
          <a:prstGeom prst="ellipse">
            <a:avLst/>
          </a:prstGeom>
          <a:solidFill>
            <a:srgbClr val="B8860B">
              <a:alpha val="20000"/>
            </a:srgbClr>
          </a:solidFill>
          <a:ln w="12700">
            <a:solidFill>
              <a:srgbClr val="B8860B"/>
            </a:solidFill>
            <a:prstDash val="solid"/>
          </a:ln>
        </p:spPr>
      </p:sp>
      <p:sp>
        <p:nvSpPr>
          <p:cNvPr id="19" name="Shape 16"/>
          <p:cNvSpPr/>
          <p:nvPr/>
        </p:nvSpPr>
        <p:spPr>
          <a:xfrm>
            <a:off x="5477256" y="2962656"/>
            <a:ext cx="292608" cy="292608"/>
          </a:xfrm>
          <a:prstGeom prst="ellipse">
            <a:avLst/>
          </a:prstGeom>
          <a:solidFill>
            <a:srgbClr val="B8860B"/>
          </a:solidFill>
          <a:ln w="12700">
            <a:solidFill>
              <a:srgbClr val="B8860B"/>
            </a:solidFill>
            <a:prstDash val="solid"/>
          </a:ln>
        </p:spPr>
      </p:sp>
      <p:sp>
        <p:nvSpPr>
          <p:cNvPr id="20" name="Text 17"/>
          <p:cNvSpPr/>
          <p:nvPr/>
        </p:nvSpPr>
        <p:spPr>
          <a:xfrm>
            <a:off x="4686300" y="2651760"/>
            <a:ext cx="1874520" cy="274320"/>
          </a:xfrm>
          <a:prstGeom prst="rect">
            <a:avLst/>
          </a:prstGeom>
          <a:noFill/>
          <a:ln/>
        </p:spPr>
        <p:txBody>
          <a:bodyPr wrap="square" lIns="0" tIns="0" rIns="0" bIns="0" rtlCol="0" anchor="ctr"/>
          <a:lstStyle/>
          <a:p>
            <a:pPr algn="ctr" indent="0" marL="0">
              <a:buNone/>
            </a:pPr>
            <a:r>
              <a:rPr lang="en-US" sz="900" b="1" spc="300" kern="0" dirty="0">
                <a:solidFill>
                  <a:srgbClr val="B8860B"/>
                </a:solidFill>
                <a:latin typeface="Avenir Next LT Pro" pitchFamily="34" charset="0"/>
                <a:ea typeface="Avenir Next LT Pro" pitchFamily="34" charset="-122"/>
                <a:cs typeface="Avenir Next LT Pro" pitchFamily="34" charset="-120"/>
              </a:rPr>
              <a:t>03</a:t>
            </a:r>
            <a:endParaRPr lang="en-US" sz="900" dirty="0"/>
          </a:p>
        </p:txBody>
      </p:sp>
      <p:sp>
        <p:nvSpPr>
          <p:cNvPr id="21" name="Text 18"/>
          <p:cNvSpPr/>
          <p:nvPr/>
        </p:nvSpPr>
        <p:spPr>
          <a:xfrm>
            <a:off x="4686300" y="3566160"/>
            <a:ext cx="1874520" cy="320040"/>
          </a:xfrm>
          <a:prstGeom prst="rect">
            <a:avLst/>
          </a:prstGeom>
          <a:noFill/>
          <a:ln/>
        </p:spPr>
        <p:txBody>
          <a:bodyPr wrap="square" lIns="0" tIns="0" rIns="0" bIns="0" rtlCol="0" anchor="ctr"/>
          <a:lstStyle/>
          <a:p>
            <a:pPr algn="ctr" indent="0" marL="0">
              <a:buNone/>
            </a:pPr>
            <a:r>
              <a:rPr lang="en-US" sz="1400" b="1" dirty="0">
                <a:solidFill>
                  <a:srgbClr val="1A1A1A"/>
                </a:solidFill>
                <a:latin typeface="Georgia" pitchFamily="34" charset="0"/>
                <a:ea typeface="Georgia" pitchFamily="34" charset="-122"/>
                <a:cs typeface="Georgia" pitchFamily="34" charset="-120"/>
              </a:rPr>
              <a:t>Travaux</a:t>
            </a:r>
            <a:endParaRPr lang="en-US" sz="1400" dirty="0"/>
          </a:p>
        </p:txBody>
      </p:sp>
      <p:sp>
        <p:nvSpPr>
          <p:cNvPr id="22" name="Text 19"/>
          <p:cNvSpPr/>
          <p:nvPr/>
        </p:nvSpPr>
        <p:spPr>
          <a:xfrm>
            <a:off x="4686300" y="3886200"/>
            <a:ext cx="1874520" cy="274320"/>
          </a:xfrm>
          <a:prstGeom prst="rect">
            <a:avLst/>
          </a:prstGeom>
          <a:noFill/>
          <a:ln/>
        </p:spPr>
        <p:txBody>
          <a:bodyPr wrap="square" lIns="0" tIns="0" rIns="0" bIns="0" rtlCol="0" anchor="ctr"/>
          <a:lstStyle/>
          <a:p>
            <a:pPr algn="ctr" indent="0" marL="0">
              <a:buNone/>
            </a:pPr>
            <a:r>
              <a:rPr lang="en-US" sz="1000" i="1" dirty="0">
                <a:solidFill>
                  <a:srgbClr val="8A7B5C"/>
                </a:solidFill>
                <a:latin typeface="Georgia" pitchFamily="34" charset="0"/>
                <a:ea typeface="Georgia" pitchFamily="34" charset="-122"/>
                <a:cs typeface="Georgia" pitchFamily="34" charset="-120"/>
              </a:rPr>
              <a:t>Rénovation complète</a:t>
            </a:r>
            <a:endParaRPr lang="en-US" sz="1000" dirty="0"/>
          </a:p>
        </p:txBody>
      </p:sp>
      <p:sp>
        <p:nvSpPr>
          <p:cNvPr id="23" name="Text 20"/>
          <p:cNvSpPr/>
          <p:nvPr/>
        </p:nvSpPr>
        <p:spPr>
          <a:xfrm>
            <a:off x="4686300" y="4160520"/>
            <a:ext cx="1874520" cy="228600"/>
          </a:xfrm>
          <a:prstGeom prst="rect">
            <a:avLst/>
          </a:prstGeom>
          <a:noFill/>
          <a:ln/>
        </p:spPr>
        <p:txBody>
          <a:bodyPr wrap="square" lIns="0" tIns="0" rIns="0" bIns="0" rtlCol="0" anchor="ctr"/>
          <a:lstStyle/>
          <a:p>
            <a:pPr algn="ctr" indent="0" marL="0">
              <a:buNone/>
            </a:pPr>
            <a:r>
              <a:rPr lang="en-US" sz="800" b="1" spc="300" kern="0" dirty="0">
                <a:solidFill>
                  <a:srgbClr val="B8860B"/>
                </a:solidFill>
                <a:latin typeface="Avenir Next LT Pro" pitchFamily="34" charset="0"/>
                <a:ea typeface="Avenir Next LT Pro" pitchFamily="34" charset="-122"/>
                <a:cs typeface="Avenir Next LT Pro" pitchFamily="34" charset="-120"/>
              </a:rPr>
              <a:t>EN COURS</a:t>
            </a:r>
            <a:endParaRPr lang="en-US" sz="800" dirty="0"/>
          </a:p>
        </p:txBody>
      </p:sp>
      <p:sp>
        <p:nvSpPr>
          <p:cNvPr id="24" name="Shape 21"/>
          <p:cNvSpPr/>
          <p:nvPr/>
        </p:nvSpPr>
        <p:spPr>
          <a:xfrm>
            <a:off x="7644384" y="3026664"/>
            <a:ext cx="164592" cy="164592"/>
          </a:xfrm>
          <a:prstGeom prst="ellipse">
            <a:avLst/>
          </a:prstGeom>
          <a:solidFill>
            <a:srgbClr val="B5A77E"/>
          </a:solidFill>
          <a:ln w="12700">
            <a:solidFill>
              <a:srgbClr val="B5A77E"/>
            </a:solidFill>
            <a:prstDash val="solid"/>
          </a:ln>
        </p:spPr>
      </p:sp>
      <p:sp>
        <p:nvSpPr>
          <p:cNvPr id="25" name="Text 22"/>
          <p:cNvSpPr/>
          <p:nvPr/>
        </p:nvSpPr>
        <p:spPr>
          <a:xfrm>
            <a:off x="6789420" y="2651760"/>
            <a:ext cx="1874520" cy="274320"/>
          </a:xfrm>
          <a:prstGeom prst="rect">
            <a:avLst/>
          </a:prstGeom>
          <a:noFill/>
          <a:ln/>
        </p:spPr>
        <p:txBody>
          <a:bodyPr wrap="square" lIns="0" tIns="0" rIns="0" bIns="0" rtlCol="0" anchor="ctr"/>
          <a:lstStyle/>
          <a:p>
            <a:pPr algn="ctr" indent="0" marL="0">
              <a:buNone/>
            </a:pPr>
            <a:r>
              <a:rPr lang="en-US" sz="900" b="1" spc="300" kern="0" dirty="0">
                <a:solidFill>
                  <a:srgbClr val="B8860B"/>
                </a:solidFill>
                <a:latin typeface="Avenir Next LT Pro" pitchFamily="34" charset="0"/>
                <a:ea typeface="Avenir Next LT Pro" pitchFamily="34" charset="-122"/>
                <a:cs typeface="Avenir Next LT Pro" pitchFamily="34" charset="-120"/>
              </a:rPr>
              <a:t>04</a:t>
            </a:r>
            <a:endParaRPr lang="en-US" sz="900" dirty="0"/>
          </a:p>
        </p:txBody>
      </p:sp>
      <p:sp>
        <p:nvSpPr>
          <p:cNvPr id="26" name="Text 23"/>
          <p:cNvSpPr/>
          <p:nvPr/>
        </p:nvSpPr>
        <p:spPr>
          <a:xfrm>
            <a:off x="6789420" y="3566160"/>
            <a:ext cx="1874520" cy="320040"/>
          </a:xfrm>
          <a:prstGeom prst="rect">
            <a:avLst/>
          </a:prstGeom>
          <a:noFill/>
          <a:ln/>
        </p:spPr>
        <p:txBody>
          <a:bodyPr wrap="square" lIns="0" tIns="0" rIns="0" bIns="0" rtlCol="0" anchor="ctr"/>
          <a:lstStyle/>
          <a:p>
            <a:pPr algn="ctr" indent="0" marL="0">
              <a:buNone/>
            </a:pPr>
            <a:r>
              <a:rPr lang="en-US" sz="1400" b="1" dirty="0">
                <a:solidFill>
                  <a:srgbClr val="1A1A1A"/>
                </a:solidFill>
                <a:latin typeface="Georgia" pitchFamily="34" charset="0"/>
                <a:ea typeface="Georgia" pitchFamily="34" charset="-122"/>
                <a:cs typeface="Georgia" pitchFamily="34" charset="-120"/>
              </a:rPr>
              <a:t>Livraison</a:t>
            </a:r>
            <a:endParaRPr lang="en-US" sz="1400" dirty="0"/>
          </a:p>
        </p:txBody>
      </p:sp>
      <p:sp>
        <p:nvSpPr>
          <p:cNvPr id="27" name="Text 24"/>
          <p:cNvSpPr/>
          <p:nvPr/>
        </p:nvSpPr>
        <p:spPr>
          <a:xfrm>
            <a:off x="6789420" y="3886200"/>
            <a:ext cx="1874520" cy="274320"/>
          </a:xfrm>
          <a:prstGeom prst="rect">
            <a:avLst/>
          </a:prstGeom>
          <a:noFill/>
          <a:ln/>
        </p:spPr>
        <p:txBody>
          <a:bodyPr wrap="square" lIns="0" tIns="0" rIns="0" bIns="0" rtlCol="0" anchor="ctr"/>
          <a:lstStyle/>
          <a:p>
            <a:pPr algn="ctr" indent="0" marL="0">
              <a:buNone/>
            </a:pPr>
            <a:r>
              <a:rPr lang="en-US" sz="1000" i="1" dirty="0">
                <a:solidFill>
                  <a:srgbClr val="8A7B5C"/>
                </a:solidFill>
                <a:latin typeface="Georgia" pitchFamily="34" charset="0"/>
                <a:ea typeface="Georgia" pitchFamily="34" charset="-122"/>
                <a:cs typeface="Georgia" pitchFamily="34" charset="-120"/>
              </a:rPr>
              <a:t>Été 2026</a:t>
            </a:r>
            <a:endParaRPr lang="en-US" sz="1000" dirty="0"/>
          </a:p>
        </p:txBody>
      </p:sp>
      <p:sp>
        <p:nvSpPr>
          <p:cNvPr id="28" name="Text 25"/>
          <p:cNvSpPr/>
          <p:nvPr/>
        </p:nvSpPr>
        <p:spPr>
          <a:xfrm>
            <a:off x="457200" y="4434840"/>
            <a:ext cx="8229600" cy="256032"/>
          </a:xfrm>
          <a:prstGeom prst="rect">
            <a:avLst/>
          </a:prstGeom>
          <a:noFill/>
          <a:ln/>
        </p:spPr>
        <p:txBody>
          <a:bodyPr wrap="square" lIns="0" tIns="0" rIns="0" bIns="0" rtlCol="0" anchor="ctr"/>
          <a:lstStyle/>
          <a:p>
            <a:pPr algn="ctr" indent="0" marL="0">
              <a:buNone/>
            </a:pPr>
            <a:r>
              <a:rPr lang="en-US" sz="1000" i="1" dirty="0">
                <a:solidFill>
                  <a:srgbClr val="8A7B5C"/>
                </a:solidFill>
                <a:latin typeface="Georgia" pitchFamily="34" charset="0"/>
                <a:ea typeface="Georgia" pitchFamily="34" charset="-122"/>
                <a:cs typeface="Georgia" pitchFamily="34" charset="-120"/>
              </a:rPr>
              <a:t>Fenêtre de livraison, entre le 1er juillet et le 1er août 2026.</a:t>
            </a:r>
            <a:endParaRPr lang="en-US" sz="1000" dirty="0"/>
          </a:p>
        </p:txBody>
      </p:sp>
      <p:sp>
        <p:nvSpPr>
          <p:cNvPr id="29" name="Shape 26"/>
          <p:cNvSpPr/>
          <p:nvPr/>
        </p:nvSpPr>
        <p:spPr>
          <a:xfrm>
            <a:off x="457200" y="4800600"/>
            <a:ext cx="8229600" cy="0"/>
          </a:xfrm>
          <a:prstGeom prst="line">
            <a:avLst/>
          </a:prstGeom>
          <a:noFill/>
          <a:ln w="6350">
            <a:solidFill>
              <a:srgbClr val="E5E0D7"/>
            </a:solidFill>
            <a:prstDash val="solid"/>
          </a:ln>
        </p:spPr>
      </p:sp>
      <p:sp>
        <p:nvSpPr>
          <p:cNvPr id="30" name="Text 27"/>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1" name="Text 28"/>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05  ·  LOCALISATION</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ORLÉANS</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Hyper centre, métropole régionale</a:t>
            </a:r>
            <a:endParaRPr lang="en-US" sz="2600" dirty="0"/>
          </a:p>
        </p:txBody>
      </p:sp>
      <p:sp>
        <p:nvSpPr>
          <p:cNvPr id="9" name="Text 6"/>
          <p:cNvSpPr/>
          <p:nvPr/>
        </p:nvSpPr>
        <p:spPr>
          <a:xfrm>
            <a:off x="457200" y="2103120"/>
            <a:ext cx="4572000" cy="1645920"/>
          </a:xfrm>
          <a:prstGeom prst="rect">
            <a:avLst/>
          </a:prstGeom>
          <a:noFill/>
          <a:ln/>
        </p:spPr>
        <p:txBody>
          <a:bodyPr wrap="square" lIns="0" tIns="0" rIns="0" bIns="0" rtlCol="0" anchor="t"/>
          <a:lstStyle/>
          <a:p>
            <a:pPr indent="0" marL="0">
              <a:buNone/>
            </a:pPr>
            <a:r>
              <a:rPr lang="en-US" sz="1200" i="1" dirty="0">
                <a:solidFill>
                  <a:srgbClr val="1A1A1A"/>
                </a:solidFill>
                <a:latin typeface="Georgia" pitchFamily="34" charset="0"/>
                <a:ea typeface="Georgia" pitchFamily="34" charset="-122"/>
                <a:cs typeface="Georgia" pitchFamily="34" charset="-120"/>
              </a:rPr>
              <a:t>Orléans, préfecture du Loiret, 117 000 habitants, capitale régionale du Centre Val de Loire. Tissu économique tertiaire dynamique, université, hôpital régional. Centre historique en pierre, restauré, à forte demande locative.</a:t>
            </a:r>
            <a:endParaRPr lang="en-US" sz="1200" dirty="0"/>
          </a:p>
        </p:txBody>
      </p:sp>
      <p:sp>
        <p:nvSpPr>
          <p:cNvPr id="10" name="Shape 7"/>
          <p:cNvSpPr/>
          <p:nvPr/>
        </p:nvSpPr>
        <p:spPr>
          <a:xfrm>
            <a:off x="5303520" y="2103120"/>
            <a:ext cx="3383280" cy="1508760"/>
          </a:xfrm>
          <a:prstGeom prst="rect">
            <a:avLst/>
          </a:prstGeom>
          <a:solidFill>
            <a:srgbClr val="FAFAF8"/>
          </a:solidFill>
          <a:ln w="6350">
            <a:solidFill>
              <a:srgbClr val="E5E0D7"/>
            </a:solidFill>
            <a:prstDash val="solid"/>
          </a:ln>
        </p:spPr>
      </p:sp>
      <p:sp>
        <p:nvSpPr>
          <p:cNvPr id="11" name="Shape 8"/>
          <p:cNvSpPr/>
          <p:nvPr/>
        </p:nvSpPr>
        <p:spPr>
          <a:xfrm>
            <a:off x="5303520" y="2103120"/>
            <a:ext cx="3383280" cy="54864"/>
          </a:xfrm>
          <a:prstGeom prst="rect">
            <a:avLst/>
          </a:prstGeom>
          <a:solidFill>
            <a:srgbClr val="B8860B"/>
          </a:solidFill>
          <a:ln w="12700">
            <a:solidFill>
              <a:srgbClr val="B8860B"/>
            </a:solidFill>
            <a:prstDash val="solid"/>
          </a:ln>
        </p:spPr>
      </p:sp>
      <p:sp>
        <p:nvSpPr>
          <p:cNvPr id="12" name="Text 9"/>
          <p:cNvSpPr/>
          <p:nvPr/>
        </p:nvSpPr>
        <p:spPr>
          <a:xfrm>
            <a:off x="5303520" y="2606040"/>
            <a:ext cx="3383280" cy="274320"/>
          </a:xfrm>
          <a:prstGeom prst="rect">
            <a:avLst/>
          </a:prstGeom>
          <a:noFill/>
          <a:ln/>
        </p:spPr>
        <p:txBody>
          <a:bodyPr wrap="square" lIns="0" tIns="0" rIns="0" bIns="0" rtlCol="0" anchor="ctr"/>
          <a:lstStyle/>
          <a:p>
            <a:pPr algn="ctr" indent="0" marL="0">
              <a:buNone/>
            </a:pPr>
            <a:r>
              <a:rPr lang="en-US" sz="900" b="1" spc="500" kern="0" dirty="0">
                <a:solidFill>
                  <a:srgbClr val="8A7B5C"/>
                </a:solidFill>
                <a:latin typeface="Avenir Next LT Pro" pitchFamily="34" charset="0"/>
                <a:ea typeface="Avenir Next LT Pro" pitchFamily="34" charset="-122"/>
                <a:cs typeface="Avenir Next LT Pro" pitchFamily="34" charset="-120"/>
              </a:rPr>
              <a:t>EXTRAIT DE CARTE</a:t>
            </a:r>
            <a:endParaRPr lang="en-US" sz="900" dirty="0"/>
          </a:p>
        </p:txBody>
      </p:sp>
      <p:sp>
        <p:nvSpPr>
          <p:cNvPr id="13" name="Text 10"/>
          <p:cNvSpPr/>
          <p:nvPr/>
        </p:nvSpPr>
        <p:spPr>
          <a:xfrm>
            <a:off x="5303520" y="2880360"/>
            <a:ext cx="3383280" cy="274320"/>
          </a:xfrm>
          <a:prstGeom prst="rect">
            <a:avLst/>
          </a:prstGeom>
          <a:noFill/>
          <a:ln/>
        </p:spPr>
        <p:txBody>
          <a:bodyPr wrap="square" lIns="0" tIns="0" rIns="0" bIns="0" rtlCol="0" anchor="ctr"/>
          <a:lstStyle/>
          <a:p>
            <a:pPr algn="ctr" indent="0" marL="0">
              <a:buNone/>
            </a:pPr>
            <a:r>
              <a:rPr lang="en-US" sz="1100" i="1" dirty="0">
                <a:solidFill>
                  <a:srgbClr val="B5A77E"/>
                </a:solidFill>
                <a:latin typeface="Georgia" pitchFamily="34" charset="0"/>
                <a:ea typeface="Georgia" pitchFamily="34" charset="-122"/>
                <a:cs typeface="Georgia" pitchFamily="34" charset="-120"/>
              </a:rPr>
              <a:t>À insérer</a:t>
            </a:r>
            <a:endParaRPr lang="en-US" sz="1100" dirty="0"/>
          </a:p>
        </p:txBody>
      </p:sp>
      <p:sp>
        <p:nvSpPr>
          <p:cNvPr id="14" name="Shape 11"/>
          <p:cNvSpPr/>
          <p:nvPr/>
        </p:nvSpPr>
        <p:spPr>
          <a:xfrm>
            <a:off x="548640" y="3794760"/>
            <a:ext cx="1874520" cy="914400"/>
          </a:xfrm>
          <a:prstGeom prst="rect">
            <a:avLst/>
          </a:prstGeom>
          <a:solidFill>
            <a:srgbClr val="FFFFFF"/>
          </a:solidFill>
          <a:ln w="5080">
            <a:solidFill>
              <a:srgbClr val="E5E0D7"/>
            </a:solidFill>
            <a:prstDash val="solid"/>
          </a:ln>
        </p:spPr>
      </p:sp>
      <p:sp>
        <p:nvSpPr>
          <p:cNvPr id="15" name="Text 12"/>
          <p:cNvSpPr/>
          <p:nvPr/>
        </p:nvSpPr>
        <p:spPr>
          <a:xfrm>
            <a:off x="548640" y="3904488"/>
            <a:ext cx="1874520" cy="411480"/>
          </a:xfrm>
          <a:prstGeom prst="rect">
            <a:avLst/>
          </a:prstGeom>
          <a:noFill/>
          <a:ln/>
        </p:spPr>
        <p:txBody>
          <a:bodyPr wrap="square" lIns="0" tIns="0" rIns="0" bIns="0" rtlCol="0" anchor="ctr"/>
          <a:lstStyle/>
          <a:p>
            <a:pPr algn="ctr" indent="0" marL="0">
              <a:buNone/>
            </a:pPr>
            <a:r>
              <a:rPr lang="en-US" sz="1800" b="1" dirty="0">
                <a:solidFill>
                  <a:srgbClr val="B8860B"/>
                </a:solidFill>
                <a:latin typeface="Georgia" pitchFamily="34" charset="0"/>
                <a:ea typeface="Georgia" pitchFamily="34" charset="-122"/>
                <a:cs typeface="Georgia" pitchFamily="34" charset="-120"/>
              </a:rPr>
              <a:t>117 000</a:t>
            </a:r>
            <a:endParaRPr lang="en-US" sz="1800" dirty="0"/>
          </a:p>
        </p:txBody>
      </p:sp>
      <p:sp>
        <p:nvSpPr>
          <p:cNvPr id="16" name="Text 13"/>
          <p:cNvSpPr/>
          <p:nvPr/>
        </p:nvSpPr>
        <p:spPr>
          <a:xfrm>
            <a:off x="548640" y="4361688"/>
            <a:ext cx="1874520" cy="274320"/>
          </a:xfrm>
          <a:prstGeom prst="rect">
            <a:avLst/>
          </a:prstGeom>
          <a:noFill/>
          <a:ln/>
        </p:spPr>
        <p:txBody>
          <a:bodyPr wrap="square" lIns="0" tIns="0" rIns="0" bIns="0" rtlCol="0" anchor="ctr"/>
          <a:lstStyle/>
          <a:p>
            <a:pPr algn="ctr" indent="0" marL="0">
              <a:buNone/>
            </a:pPr>
            <a:r>
              <a:rPr lang="en-US" sz="700" spc="300" kern="0" dirty="0">
                <a:solidFill>
                  <a:srgbClr val="8A7B5C"/>
                </a:solidFill>
                <a:latin typeface="Avenir Next LT Pro" pitchFamily="34" charset="0"/>
                <a:ea typeface="Avenir Next LT Pro" pitchFamily="34" charset="-122"/>
                <a:cs typeface="Avenir Next LT Pro" pitchFamily="34" charset="-120"/>
              </a:rPr>
              <a:t>HABITANTS</a:t>
            </a:r>
            <a:endParaRPr lang="en-US" sz="700" dirty="0"/>
          </a:p>
        </p:txBody>
      </p:sp>
      <p:sp>
        <p:nvSpPr>
          <p:cNvPr id="17" name="Shape 14"/>
          <p:cNvSpPr/>
          <p:nvPr/>
        </p:nvSpPr>
        <p:spPr>
          <a:xfrm>
            <a:off x="2606040" y="3794760"/>
            <a:ext cx="1874520" cy="914400"/>
          </a:xfrm>
          <a:prstGeom prst="rect">
            <a:avLst/>
          </a:prstGeom>
          <a:solidFill>
            <a:srgbClr val="FFFFFF"/>
          </a:solidFill>
          <a:ln w="5080">
            <a:solidFill>
              <a:srgbClr val="E5E0D7"/>
            </a:solidFill>
            <a:prstDash val="solid"/>
          </a:ln>
        </p:spPr>
      </p:sp>
      <p:sp>
        <p:nvSpPr>
          <p:cNvPr id="18" name="Text 15"/>
          <p:cNvSpPr/>
          <p:nvPr/>
        </p:nvSpPr>
        <p:spPr>
          <a:xfrm>
            <a:off x="2606040" y="3904488"/>
            <a:ext cx="1874520" cy="411480"/>
          </a:xfrm>
          <a:prstGeom prst="rect">
            <a:avLst/>
          </a:prstGeom>
          <a:noFill/>
          <a:ln/>
        </p:spPr>
        <p:txBody>
          <a:bodyPr wrap="square" lIns="0" tIns="0" rIns="0" bIns="0" rtlCol="0" anchor="ctr"/>
          <a:lstStyle/>
          <a:p>
            <a:pPr algn="ctr" indent="0" marL="0">
              <a:buNone/>
            </a:pPr>
            <a:r>
              <a:rPr lang="en-US" sz="1800" b="1" dirty="0">
                <a:solidFill>
                  <a:srgbClr val="B8860B"/>
                </a:solidFill>
                <a:latin typeface="Georgia" pitchFamily="34" charset="0"/>
                <a:ea typeface="Georgia" pitchFamily="34" charset="-122"/>
                <a:cs typeface="Georgia" pitchFamily="34" charset="-120"/>
              </a:rPr>
              <a:t>1 h</a:t>
            </a:r>
            <a:endParaRPr lang="en-US" sz="1800" dirty="0"/>
          </a:p>
        </p:txBody>
      </p:sp>
      <p:sp>
        <p:nvSpPr>
          <p:cNvPr id="19" name="Text 16"/>
          <p:cNvSpPr/>
          <p:nvPr/>
        </p:nvSpPr>
        <p:spPr>
          <a:xfrm>
            <a:off x="2606040" y="4361688"/>
            <a:ext cx="1874520" cy="274320"/>
          </a:xfrm>
          <a:prstGeom prst="rect">
            <a:avLst/>
          </a:prstGeom>
          <a:noFill/>
          <a:ln/>
        </p:spPr>
        <p:txBody>
          <a:bodyPr wrap="square" lIns="0" tIns="0" rIns="0" bIns="0" rtlCol="0" anchor="ctr"/>
          <a:lstStyle/>
          <a:p>
            <a:pPr algn="ctr" indent="0" marL="0">
              <a:buNone/>
            </a:pPr>
            <a:r>
              <a:rPr lang="en-US" sz="700" spc="300" kern="0" dirty="0">
                <a:solidFill>
                  <a:srgbClr val="8A7B5C"/>
                </a:solidFill>
                <a:latin typeface="Avenir Next LT Pro" pitchFamily="34" charset="0"/>
                <a:ea typeface="Avenir Next LT Pro" pitchFamily="34" charset="-122"/>
                <a:cs typeface="Avenir Next LT Pro" pitchFamily="34" charset="-120"/>
              </a:rPr>
              <a:t>PARIS TGV</a:t>
            </a:r>
            <a:endParaRPr lang="en-US" sz="700" dirty="0"/>
          </a:p>
        </p:txBody>
      </p:sp>
      <p:sp>
        <p:nvSpPr>
          <p:cNvPr id="20" name="Shape 17"/>
          <p:cNvSpPr/>
          <p:nvPr/>
        </p:nvSpPr>
        <p:spPr>
          <a:xfrm>
            <a:off x="4663440" y="3794760"/>
            <a:ext cx="1874520" cy="914400"/>
          </a:xfrm>
          <a:prstGeom prst="rect">
            <a:avLst/>
          </a:prstGeom>
          <a:solidFill>
            <a:srgbClr val="FFFFFF"/>
          </a:solidFill>
          <a:ln w="5080">
            <a:solidFill>
              <a:srgbClr val="E5E0D7"/>
            </a:solidFill>
            <a:prstDash val="solid"/>
          </a:ln>
        </p:spPr>
      </p:sp>
      <p:sp>
        <p:nvSpPr>
          <p:cNvPr id="21" name="Text 18"/>
          <p:cNvSpPr/>
          <p:nvPr/>
        </p:nvSpPr>
        <p:spPr>
          <a:xfrm>
            <a:off x="4663440" y="3904488"/>
            <a:ext cx="1874520" cy="411480"/>
          </a:xfrm>
          <a:prstGeom prst="rect">
            <a:avLst/>
          </a:prstGeom>
          <a:noFill/>
          <a:ln/>
        </p:spPr>
        <p:txBody>
          <a:bodyPr wrap="square" lIns="0" tIns="0" rIns="0" bIns="0" rtlCol="0" anchor="ctr"/>
          <a:lstStyle/>
          <a:p>
            <a:pPr algn="ctr" indent="0" marL="0">
              <a:buNone/>
            </a:pPr>
            <a:r>
              <a:rPr lang="en-US" sz="1800" b="1" dirty="0">
                <a:solidFill>
                  <a:srgbClr val="B8860B"/>
                </a:solidFill>
                <a:latin typeface="Georgia" pitchFamily="34" charset="0"/>
                <a:ea typeface="Georgia" pitchFamily="34" charset="-122"/>
                <a:cs typeface="Georgia" pitchFamily="34" charset="-120"/>
              </a:rPr>
              <a:t>+2,8 %</a:t>
            </a:r>
            <a:endParaRPr lang="en-US" sz="1800" dirty="0"/>
          </a:p>
        </p:txBody>
      </p:sp>
      <p:sp>
        <p:nvSpPr>
          <p:cNvPr id="22" name="Text 19"/>
          <p:cNvSpPr/>
          <p:nvPr/>
        </p:nvSpPr>
        <p:spPr>
          <a:xfrm>
            <a:off x="4663440" y="4361688"/>
            <a:ext cx="1874520" cy="274320"/>
          </a:xfrm>
          <a:prstGeom prst="rect">
            <a:avLst/>
          </a:prstGeom>
          <a:noFill/>
          <a:ln/>
        </p:spPr>
        <p:txBody>
          <a:bodyPr wrap="square" lIns="0" tIns="0" rIns="0" bIns="0" rtlCol="0" anchor="ctr"/>
          <a:lstStyle/>
          <a:p>
            <a:pPr algn="ctr" indent="0" marL="0">
              <a:buNone/>
            </a:pPr>
            <a:r>
              <a:rPr lang="en-US" sz="700" spc="300" kern="0" dirty="0">
                <a:solidFill>
                  <a:srgbClr val="8A7B5C"/>
                </a:solidFill>
                <a:latin typeface="Avenir Next LT Pro" pitchFamily="34" charset="0"/>
                <a:ea typeface="Avenir Next LT Pro" pitchFamily="34" charset="-122"/>
                <a:cs typeface="Avenir Next LT Pro" pitchFamily="34" charset="-120"/>
              </a:rPr>
              <a:t>PROGRESSION LOCATIVE</a:t>
            </a:r>
            <a:endParaRPr lang="en-US" sz="700" dirty="0"/>
          </a:p>
        </p:txBody>
      </p:sp>
      <p:sp>
        <p:nvSpPr>
          <p:cNvPr id="23" name="Shape 20"/>
          <p:cNvSpPr/>
          <p:nvPr/>
        </p:nvSpPr>
        <p:spPr>
          <a:xfrm>
            <a:off x="6720840" y="3794760"/>
            <a:ext cx="1874520" cy="914400"/>
          </a:xfrm>
          <a:prstGeom prst="rect">
            <a:avLst/>
          </a:prstGeom>
          <a:solidFill>
            <a:srgbClr val="FFFFFF"/>
          </a:solidFill>
          <a:ln w="5080">
            <a:solidFill>
              <a:srgbClr val="E5E0D7"/>
            </a:solidFill>
            <a:prstDash val="solid"/>
          </a:ln>
        </p:spPr>
      </p:sp>
      <p:sp>
        <p:nvSpPr>
          <p:cNvPr id="24" name="Text 21"/>
          <p:cNvSpPr/>
          <p:nvPr/>
        </p:nvSpPr>
        <p:spPr>
          <a:xfrm>
            <a:off x="6720840" y="3904488"/>
            <a:ext cx="1874520" cy="411480"/>
          </a:xfrm>
          <a:prstGeom prst="rect">
            <a:avLst/>
          </a:prstGeom>
          <a:noFill/>
          <a:ln/>
        </p:spPr>
        <p:txBody>
          <a:bodyPr wrap="square" lIns="0" tIns="0" rIns="0" bIns="0" rtlCol="0" anchor="ctr"/>
          <a:lstStyle/>
          <a:p>
            <a:pPr algn="ctr" indent="0" marL="0">
              <a:buNone/>
            </a:pPr>
            <a:r>
              <a:rPr lang="en-US" sz="1800" b="1" dirty="0">
                <a:solidFill>
                  <a:srgbClr val="B8860B"/>
                </a:solidFill>
                <a:latin typeface="Georgia" pitchFamily="34" charset="0"/>
                <a:ea typeface="Georgia" pitchFamily="34" charset="-122"/>
                <a:cs typeface="Georgia" pitchFamily="34" charset="-120"/>
              </a:rPr>
              <a:t>&lt; 3 sem.</a:t>
            </a:r>
            <a:endParaRPr lang="en-US" sz="1800" dirty="0"/>
          </a:p>
        </p:txBody>
      </p:sp>
      <p:sp>
        <p:nvSpPr>
          <p:cNvPr id="25" name="Text 22"/>
          <p:cNvSpPr/>
          <p:nvPr/>
        </p:nvSpPr>
        <p:spPr>
          <a:xfrm>
            <a:off x="6720840" y="4361688"/>
            <a:ext cx="1874520" cy="274320"/>
          </a:xfrm>
          <a:prstGeom prst="rect">
            <a:avLst/>
          </a:prstGeom>
          <a:noFill/>
          <a:ln/>
        </p:spPr>
        <p:txBody>
          <a:bodyPr wrap="square" lIns="0" tIns="0" rIns="0" bIns="0" rtlCol="0" anchor="ctr"/>
          <a:lstStyle/>
          <a:p>
            <a:pPr algn="ctr" indent="0" marL="0">
              <a:buNone/>
            </a:pPr>
            <a:r>
              <a:rPr lang="en-US" sz="700" spc="300" kern="0" dirty="0">
                <a:solidFill>
                  <a:srgbClr val="8A7B5C"/>
                </a:solidFill>
                <a:latin typeface="Avenir Next LT Pro" pitchFamily="34" charset="0"/>
                <a:ea typeface="Avenir Next LT Pro" pitchFamily="34" charset="-122"/>
                <a:cs typeface="Avenir Next LT Pro" pitchFamily="34" charset="-120"/>
              </a:rPr>
              <a:t>DÉLAI MOYEN RELOCATION</a:t>
            </a:r>
            <a:endParaRPr lang="en-US" sz="700" dirty="0"/>
          </a:p>
        </p:txBody>
      </p:sp>
      <p:sp>
        <p:nvSpPr>
          <p:cNvPr id="26" name="Shape 23"/>
          <p:cNvSpPr/>
          <p:nvPr/>
        </p:nvSpPr>
        <p:spPr>
          <a:xfrm>
            <a:off x="457200" y="4800600"/>
            <a:ext cx="8229600" cy="0"/>
          </a:xfrm>
          <a:prstGeom prst="line">
            <a:avLst/>
          </a:prstGeom>
          <a:noFill/>
          <a:ln w="6350">
            <a:solidFill>
              <a:srgbClr val="E5E0D7"/>
            </a:solidFill>
            <a:prstDash val="solid"/>
          </a:ln>
        </p:spPr>
      </p:sp>
      <p:sp>
        <p:nvSpPr>
          <p:cNvPr id="27" name="Text 24"/>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28" name="Text 25"/>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06  ·  ANALYSE DE SENSIBILITÉ</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RENTABILITÉ</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Trois scénarios de marché</a:t>
            </a:r>
            <a:endParaRPr lang="en-US" sz="2600" dirty="0"/>
          </a:p>
        </p:txBody>
      </p:sp>
      <p:sp>
        <p:nvSpPr>
          <p:cNvPr id="9" name="Shape 6"/>
          <p:cNvSpPr/>
          <p:nvPr/>
        </p:nvSpPr>
        <p:spPr>
          <a:xfrm>
            <a:off x="361188" y="2103120"/>
            <a:ext cx="2697480" cy="2560320"/>
          </a:xfrm>
          <a:prstGeom prst="rect">
            <a:avLst/>
          </a:prstGeom>
          <a:solidFill>
            <a:srgbClr val="FFFFFF"/>
          </a:solidFill>
          <a:ln w="6350">
            <a:solidFill>
              <a:srgbClr val="E5E0D7"/>
            </a:solidFill>
            <a:prstDash val="solid"/>
          </a:ln>
        </p:spPr>
      </p:sp>
      <p:sp>
        <p:nvSpPr>
          <p:cNvPr id="10" name="Shape 7"/>
          <p:cNvSpPr/>
          <p:nvPr/>
        </p:nvSpPr>
        <p:spPr>
          <a:xfrm>
            <a:off x="361188" y="2103120"/>
            <a:ext cx="2697480" cy="411480"/>
          </a:xfrm>
          <a:prstGeom prst="rect">
            <a:avLst/>
          </a:prstGeom>
          <a:solidFill>
            <a:srgbClr val="8A7B5C"/>
          </a:solidFill>
          <a:ln w="12700">
            <a:solidFill>
              <a:srgbClr val="8A7B5C"/>
            </a:solidFill>
            <a:prstDash val="solid"/>
          </a:ln>
        </p:spPr>
      </p:sp>
      <p:sp>
        <p:nvSpPr>
          <p:cNvPr id="11" name="Text 8"/>
          <p:cNvSpPr/>
          <p:nvPr/>
        </p:nvSpPr>
        <p:spPr>
          <a:xfrm>
            <a:off x="361188" y="2103120"/>
            <a:ext cx="2697480" cy="411480"/>
          </a:xfrm>
          <a:prstGeom prst="rect">
            <a:avLst/>
          </a:prstGeom>
          <a:noFill/>
          <a:ln/>
        </p:spPr>
        <p:txBody>
          <a:bodyPr wrap="square" lIns="0" tIns="0" rIns="0" bIns="0" rtlCol="0" anchor="ctr"/>
          <a:lstStyle/>
          <a:p>
            <a:pPr algn="ctr" indent="0" marL="0">
              <a:buNone/>
            </a:pPr>
            <a:r>
              <a:rPr lang="en-US" sz="1000" b="1" spc="500" kern="0" dirty="0">
                <a:solidFill>
                  <a:srgbClr val="FAFAF8"/>
                </a:solidFill>
                <a:latin typeface="Avenir Next LT Pro" pitchFamily="34" charset="0"/>
                <a:ea typeface="Avenir Next LT Pro" pitchFamily="34" charset="-122"/>
                <a:cs typeface="Avenir Next LT Pro" pitchFamily="34" charset="-120"/>
              </a:rPr>
              <a:t>PESSIMISTE</a:t>
            </a:r>
            <a:endParaRPr lang="en-US" sz="1000" dirty="0"/>
          </a:p>
        </p:txBody>
      </p:sp>
      <p:sp>
        <p:nvSpPr>
          <p:cNvPr id="12" name="Text 9"/>
          <p:cNvSpPr/>
          <p:nvPr/>
        </p:nvSpPr>
        <p:spPr>
          <a:xfrm>
            <a:off x="635508" y="2743200"/>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Loyer 1 350 € mois</a:t>
            </a:r>
            <a:endParaRPr lang="en-US" sz="1100" dirty="0"/>
          </a:p>
        </p:txBody>
      </p:sp>
      <p:sp>
        <p:nvSpPr>
          <p:cNvPr id="13" name="Shape 10"/>
          <p:cNvSpPr/>
          <p:nvPr/>
        </p:nvSpPr>
        <p:spPr>
          <a:xfrm>
            <a:off x="635508" y="3072384"/>
            <a:ext cx="2148840" cy="0"/>
          </a:xfrm>
          <a:prstGeom prst="line">
            <a:avLst/>
          </a:prstGeom>
          <a:noFill/>
          <a:ln w="3810">
            <a:solidFill>
              <a:srgbClr val="E5E0D7"/>
            </a:solidFill>
            <a:prstDash val="solid"/>
          </a:ln>
        </p:spPr>
      </p:sp>
      <p:sp>
        <p:nvSpPr>
          <p:cNvPr id="14" name="Text 11"/>
          <p:cNvSpPr/>
          <p:nvPr/>
        </p:nvSpPr>
        <p:spPr>
          <a:xfrm>
            <a:off x="635508" y="3127248"/>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Vacance 1 mois par an</a:t>
            </a:r>
            <a:endParaRPr lang="en-US" sz="1100" dirty="0"/>
          </a:p>
        </p:txBody>
      </p:sp>
      <p:sp>
        <p:nvSpPr>
          <p:cNvPr id="15" name="Shape 12"/>
          <p:cNvSpPr/>
          <p:nvPr/>
        </p:nvSpPr>
        <p:spPr>
          <a:xfrm>
            <a:off x="635508" y="3456432"/>
            <a:ext cx="2148840" cy="0"/>
          </a:xfrm>
          <a:prstGeom prst="line">
            <a:avLst/>
          </a:prstGeom>
          <a:noFill/>
          <a:ln w="3810">
            <a:solidFill>
              <a:srgbClr val="E5E0D7"/>
            </a:solidFill>
            <a:prstDash val="solid"/>
          </a:ln>
        </p:spPr>
      </p:sp>
      <p:sp>
        <p:nvSpPr>
          <p:cNvPr id="16" name="Text 13"/>
          <p:cNvSpPr/>
          <p:nvPr/>
        </p:nvSpPr>
        <p:spPr>
          <a:xfrm>
            <a:off x="635508" y="3511296"/>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Prix de vente bas</a:t>
            </a:r>
            <a:endParaRPr lang="en-US" sz="1100" dirty="0"/>
          </a:p>
        </p:txBody>
      </p:sp>
      <p:sp>
        <p:nvSpPr>
          <p:cNvPr id="17" name="Text 14"/>
          <p:cNvSpPr/>
          <p:nvPr/>
        </p:nvSpPr>
        <p:spPr>
          <a:xfrm>
            <a:off x="635508" y="4297680"/>
            <a:ext cx="2148840" cy="228600"/>
          </a:xfrm>
          <a:prstGeom prst="rect">
            <a:avLst/>
          </a:prstGeom>
          <a:noFill/>
          <a:ln/>
        </p:spPr>
        <p:txBody>
          <a:bodyPr wrap="square" lIns="0" tIns="0" rIns="0" bIns="0" rtlCol="0" anchor="ctr"/>
          <a:lstStyle/>
          <a:p>
            <a:pPr indent="0" marL="0">
              <a:buNone/>
            </a:pPr>
            <a:r>
              <a:rPr lang="en-US" sz="800" i="1" spc="200" kern="0" dirty="0">
                <a:solidFill>
                  <a:srgbClr val="8A7B5C"/>
                </a:solidFill>
                <a:latin typeface="Avenir Next LT Pro" pitchFamily="34" charset="0"/>
                <a:ea typeface="Avenir Next LT Pro" pitchFamily="34" charset="-122"/>
                <a:cs typeface="Avenir Next LT Pro" pitchFamily="34" charset="-120"/>
              </a:rPr>
              <a:t>Rendement à calculer</a:t>
            </a:r>
            <a:endParaRPr lang="en-US" sz="800" dirty="0"/>
          </a:p>
        </p:txBody>
      </p:sp>
      <p:sp>
        <p:nvSpPr>
          <p:cNvPr id="18" name="Shape 15"/>
          <p:cNvSpPr/>
          <p:nvPr/>
        </p:nvSpPr>
        <p:spPr>
          <a:xfrm>
            <a:off x="3223260" y="2103120"/>
            <a:ext cx="2697480" cy="2560320"/>
          </a:xfrm>
          <a:prstGeom prst="rect">
            <a:avLst/>
          </a:prstGeom>
          <a:solidFill>
            <a:srgbClr val="FFFFFF"/>
          </a:solidFill>
          <a:ln w="12700">
            <a:solidFill>
              <a:srgbClr val="E5E0D7"/>
            </a:solidFill>
            <a:prstDash val="solid"/>
          </a:ln>
        </p:spPr>
      </p:sp>
      <p:sp>
        <p:nvSpPr>
          <p:cNvPr id="19" name="Shape 16"/>
          <p:cNvSpPr/>
          <p:nvPr/>
        </p:nvSpPr>
        <p:spPr>
          <a:xfrm>
            <a:off x="3223260" y="2103120"/>
            <a:ext cx="2697480" cy="411480"/>
          </a:xfrm>
          <a:prstGeom prst="rect">
            <a:avLst/>
          </a:prstGeom>
          <a:solidFill>
            <a:srgbClr val="B8860B"/>
          </a:solidFill>
          <a:ln w="12700">
            <a:solidFill>
              <a:srgbClr val="B8860B"/>
            </a:solidFill>
            <a:prstDash val="solid"/>
          </a:ln>
        </p:spPr>
      </p:sp>
      <p:sp>
        <p:nvSpPr>
          <p:cNvPr id="20" name="Text 17"/>
          <p:cNvSpPr/>
          <p:nvPr/>
        </p:nvSpPr>
        <p:spPr>
          <a:xfrm>
            <a:off x="3223260" y="2103120"/>
            <a:ext cx="2697480" cy="411480"/>
          </a:xfrm>
          <a:prstGeom prst="rect">
            <a:avLst/>
          </a:prstGeom>
          <a:noFill/>
          <a:ln/>
        </p:spPr>
        <p:txBody>
          <a:bodyPr wrap="square" lIns="0" tIns="0" rIns="0" bIns="0" rtlCol="0" anchor="ctr"/>
          <a:lstStyle/>
          <a:p>
            <a:pPr algn="ctr" indent="0" marL="0">
              <a:buNone/>
            </a:pPr>
            <a:r>
              <a:rPr lang="en-US" sz="1000" b="1" spc="500" kern="0" dirty="0">
                <a:solidFill>
                  <a:srgbClr val="FAFAF8"/>
                </a:solidFill>
                <a:latin typeface="Avenir Next LT Pro" pitchFamily="34" charset="0"/>
                <a:ea typeface="Avenir Next LT Pro" pitchFamily="34" charset="-122"/>
                <a:cs typeface="Avenir Next LT Pro" pitchFamily="34" charset="-120"/>
              </a:rPr>
              <a:t>CENTRAL</a:t>
            </a:r>
            <a:endParaRPr lang="en-US" sz="1000" dirty="0"/>
          </a:p>
        </p:txBody>
      </p:sp>
      <p:sp>
        <p:nvSpPr>
          <p:cNvPr id="21" name="Text 18"/>
          <p:cNvSpPr/>
          <p:nvPr/>
        </p:nvSpPr>
        <p:spPr>
          <a:xfrm>
            <a:off x="3497580" y="2743200"/>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Loyer 1 500 € mois</a:t>
            </a:r>
            <a:endParaRPr lang="en-US" sz="1100" dirty="0"/>
          </a:p>
        </p:txBody>
      </p:sp>
      <p:sp>
        <p:nvSpPr>
          <p:cNvPr id="22" name="Shape 19"/>
          <p:cNvSpPr/>
          <p:nvPr/>
        </p:nvSpPr>
        <p:spPr>
          <a:xfrm>
            <a:off x="3497580" y="3072384"/>
            <a:ext cx="2148840" cy="0"/>
          </a:xfrm>
          <a:prstGeom prst="line">
            <a:avLst/>
          </a:prstGeom>
          <a:noFill/>
          <a:ln w="3810">
            <a:solidFill>
              <a:srgbClr val="E5E0D7"/>
            </a:solidFill>
            <a:prstDash val="solid"/>
          </a:ln>
        </p:spPr>
      </p:sp>
      <p:sp>
        <p:nvSpPr>
          <p:cNvPr id="23" name="Text 20"/>
          <p:cNvSpPr/>
          <p:nvPr/>
        </p:nvSpPr>
        <p:spPr>
          <a:xfrm>
            <a:off x="3497580" y="3127248"/>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Vacance inférieure à 2 semaines</a:t>
            </a:r>
            <a:endParaRPr lang="en-US" sz="1100" dirty="0"/>
          </a:p>
        </p:txBody>
      </p:sp>
      <p:sp>
        <p:nvSpPr>
          <p:cNvPr id="24" name="Shape 21"/>
          <p:cNvSpPr/>
          <p:nvPr/>
        </p:nvSpPr>
        <p:spPr>
          <a:xfrm>
            <a:off x="3497580" y="3456432"/>
            <a:ext cx="2148840" cy="0"/>
          </a:xfrm>
          <a:prstGeom prst="line">
            <a:avLst/>
          </a:prstGeom>
          <a:noFill/>
          <a:ln w="3810">
            <a:solidFill>
              <a:srgbClr val="E5E0D7"/>
            </a:solidFill>
            <a:prstDash val="solid"/>
          </a:ln>
        </p:spPr>
      </p:sp>
      <p:sp>
        <p:nvSpPr>
          <p:cNvPr id="25" name="Text 22"/>
          <p:cNvSpPr/>
          <p:nvPr/>
        </p:nvSpPr>
        <p:spPr>
          <a:xfrm>
            <a:off x="3497580" y="3511296"/>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Prix de vente cible</a:t>
            </a:r>
            <a:endParaRPr lang="en-US" sz="1100" dirty="0"/>
          </a:p>
        </p:txBody>
      </p:sp>
      <p:sp>
        <p:nvSpPr>
          <p:cNvPr id="26" name="Text 23"/>
          <p:cNvSpPr/>
          <p:nvPr/>
        </p:nvSpPr>
        <p:spPr>
          <a:xfrm>
            <a:off x="3497580" y="4297680"/>
            <a:ext cx="2148840" cy="228600"/>
          </a:xfrm>
          <a:prstGeom prst="rect">
            <a:avLst/>
          </a:prstGeom>
          <a:noFill/>
          <a:ln/>
        </p:spPr>
        <p:txBody>
          <a:bodyPr wrap="square" lIns="0" tIns="0" rIns="0" bIns="0" rtlCol="0" anchor="ctr"/>
          <a:lstStyle/>
          <a:p>
            <a:pPr indent="0" marL="0">
              <a:buNone/>
            </a:pPr>
            <a:r>
              <a:rPr lang="en-US" sz="800" i="1" spc="200" kern="0" dirty="0">
                <a:solidFill>
                  <a:srgbClr val="8A7B5C"/>
                </a:solidFill>
                <a:latin typeface="Avenir Next LT Pro" pitchFamily="34" charset="0"/>
                <a:ea typeface="Avenir Next LT Pro" pitchFamily="34" charset="-122"/>
                <a:cs typeface="Avenir Next LT Pro" pitchFamily="34" charset="-120"/>
              </a:rPr>
              <a:t>Rendement à calculer</a:t>
            </a:r>
            <a:endParaRPr lang="en-US" sz="800" dirty="0"/>
          </a:p>
        </p:txBody>
      </p:sp>
      <p:sp>
        <p:nvSpPr>
          <p:cNvPr id="27" name="Shape 24"/>
          <p:cNvSpPr/>
          <p:nvPr/>
        </p:nvSpPr>
        <p:spPr>
          <a:xfrm>
            <a:off x="6085332" y="2103120"/>
            <a:ext cx="2697480" cy="2560320"/>
          </a:xfrm>
          <a:prstGeom prst="rect">
            <a:avLst/>
          </a:prstGeom>
          <a:solidFill>
            <a:srgbClr val="FFFFFF"/>
          </a:solidFill>
          <a:ln w="6350">
            <a:solidFill>
              <a:srgbClr val="E5E0D7"/>
            </a:solidFill>
            <a:prstDash val="solid"/>
          </a:ln>
        </p:spPr>
      </p:sp>
      <p:sp>
        <p:nvSpPr>
          <p:cNvPr id="28" name="Shape 25"/>
          <p:cNvSpPr/>
          <p:nvPr/>
        </p:nvSpPr>
        <p:spPr>
          <a:xfrm>
            <a:off x="6085332" y="2103120"/>
            <a:ext cx="2697480" cy="411480"/>
          </a:xfrm>
          <a:prstGeom prst="rect">
            <a:avLst/>
          </a:prstGeom>
          <a:solidFill>
            <a:srgbClr val="1A1A1A"/>
          </a:solidFill>
          <a:ln w="12700">
            <a:solidFill>
              <a:srgbClr val="1A1A1A"/>
            </a:solidFill>
            <a:prstDash val="solid"/>
          </a:ln>
        </p:spPr>
      </p:sp>
      <p:sp>
        <p:nvSpPr>
          <p:cNvPr id="29" name="Text 26"/>
          <p:cNvSpPr/>
          <p:nvPr/>
        </p:nvSpPr>
        <p:spPr>
          <a:xfrm>
            <a:off x="6085332" y="2103120"/>
            <a:ext cx="2697480" cy="411480"/>
          </a:xfrm>
          <a:prstGeom prst="rect">
            <a:avLst/>
          </a:prstGeom>
          <a:noFill/>
          <a:ln/>
        </p:spPr>
        <p:txBody>
          <a:bodyPr wrap="square" lIns="0" tIns="0" rIns="0" bIns="0" rtlCol="0" anchor="ctr"/>
          <a:lstStyle/>
          <a:p>
            <a:pPr algn="ctr" indent="0" marL="0">
              <a:buNone/>
            </a:pPr>
            <a:r>
              <a:rPr lang="en-US" sz="1000" b="1" spc="500" kern="0" dirty="0">
                <a:solidFill>
                  <a:srgbClr val="FAFAF8"/>
                </a:solidFill>
                <a:latin typeface="Avenir Next LT Pro" pitchFamily="34" charset="0"/>
                <a:ea typeface="Avenir Next LT Pro" pitchFamily="34" charset="-122"/>
                <a:cs typeface="Avenir Next LT Pro" pitchFamily="34" charset="-120"/>
              </a:rPr>
              <a:t>OPTIMISTE</a:t>
            </a:r>
            <a:endParaRPr lang="en-US" sz="1000" dirty="0"/>
          </a:p>
        </p:txBody>
      </p:sp>
      <p:sp>
        <p:nvSpPr>
          <p:cNvPr id="30" name="Text 27"/>
          <p:cNvSpPr/>
          <p:nvPr/>
        </p:nvSpPr>
        <p:spPr>
          <a:xfrm>
            <a:off x="6359652" y="2743200"/>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Loyer 1 600 € mois</a:t>
            </a:r>
            <a:endParaRPr lang="en-US" sz="1100" dirty="0"/>
          </a:p>
        </p:txBody>
      </p:sp>
      <p:sp>
        <p:nvSpPr>
          <p:cNvPr id="31" name="Shape 28"/>
          <p:cNvSpPr/>
          <p:nvPr/>
        </p:nvSpPr>
        <p:spPr>
          <a:xfrm>
            <a:off x="6359652" y="3072384"/>
            <a:ext cx="2148840" cy="0"/>
          </a:xfrm>
          <a:prstGeom prst="line">
            <a:avLst/>
          </a:prstGeom>
          <a:noFill/>
          <a:ln w="3810">
            <a:solidFill>
              <a:srgbClr val="E5E0D7"/>
            </a:solidFill>
            <a:prstDash val="solid"/>
          </a:ln>
        </p:spPr>
      </p:sp>
      <p:sp>
        <p:nvSpPr>
          <p:cNvPr id="32" name="Text 29"/>
          <p:cNvSpPr/>
          <p:nvPr/>
        </p:nvSpPr>
        <p:spPr>
          <a:xfrm>
            <a:off x="6359652" y="3127248"/>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Aucune vacance</a:t>
            </a:r>
            <a:endParaRPr lang="en-US" sz="1100" dirty="0"/>
          </a:p>
        </p:txBody>
      </p:sp>
      <p:sp>
        <p:nvSpPr>
          <p:cNvPr id="33" name="Shape 30"/>
          <p:cNvSpPr/>
          <p:nvPr/>
        </p:nvSpPr>
        <p:spPr>
          <a:xfrm>
            <a:off x="6359652" y="3456432"/>
            <a:ext cx="2148840" cy="0"/>
          </a:xfrm>
          <a:prstGeom prst="line">
            <a:avLst/>
          </a:prstGeom>
          <a:noFill/>
          <a:ln w="3810">
            <a:solidFill>
              <a:srgbClr val="E5E0D7"/>
            </a:solidFill>
            <a:prstDash val="solid"/>
          </a:ln>
        </p:spPr>
      </p:sp>
      <p:sp>
        <p:nvSpPr>
          <p:cNvPr id="34" name="Text 31"/>
          <p:cNvSpPr/>
          <p:nvPr/>
        </p:nvSpPr>
        <p:spPr>
          <a:xfrm>
            <a:off x="6359652" y="3511296"/>
            <a:ext cx="2148840" cy="292608"/>
          </a:xfrm>
          <a:prstGeom prst="rect">
            <a:avLst/>
          </a:prstGeom>
          <a:noFill/>
          <a:ln/>
        </p:spPr>
        <p:txBody>
          <a:bodyPr wrap="square" lIns="0" tIns="0" rIns="0" bIns="0" rtlCol="0" anchor="ctr"/>
          <a:lstStyle/>
          <a:p>
            <a:pPr indent="0" marL="0">
              <a:buNone/>
            </a:pPr>
            <a:r>
              <a:rPr lang="en-US" sz="1100" i="1" dirty="0">
                <a:solidFill>
                  <a:srgbClr val="1A1A1A"/>
                </a:solidFill>
                <a:latin typeface="Georgia" pitchFamily="34" charset="0"/>
                <a:ea typeface="Georgia" pitchFamily="34" charset="-122"/>
                <a:cs typeface="Georgia" pitchFamily="34" charset="-120"/>
              </a:rPr>
              <a:t>Plus value à 5 ans</a:t>
            </a:r>
            <a:endParaRPr lang="en-US" sz="1100" dirty="0"/>
          </a:p>
        </p:txBody>
      </p:sp>
      <p:sp>
        <p:nvSpPr>
          <p:cNvPr id="35" name="Text 32"/>
          <p:cNvSpPr/>
          <p:nvPr/>
        </p:nvSpPr>
        <p:spPr>
          <a:xfrm>
            <a:off x="6359652" y="4297680"/>
            <a:ext cx="2148840" cy="228600"/>
          </a:xfrm>
          <a:prstGeom prst="rect">
            <a:avLst/>
          </a:prstGeom>
          <a:noFill/>
          <a:ln/>
        </p:spPr>
        <p:txBody>
          <a:bodyPr wrap="square" lIns="0" tIns="0" rIns="0" bIns="0" rtlCol="0" anchor="ctr"/>
          <a:lstStyle/>
          <a:p>
            <a:pPr indent="0" marL="0">
              <a:buNone/>
            </a:pPr>
            <a:r>
              <a:rPr lang="en-US" sz="800" i="1" spc="200" kern="0" dirty="0">
                <a:solidFill>
                  <a:srgbClr val="8A7B5C"/>
                </a:solidFill>
                <a:latin typeface="Avenir Next LT Pro" pitchFamily="34" charset="0"/>
                <a:ea typeface="Avenir Next LT Pro" pitchFamily="34" charset="-122"/>
                <a:cs typeface="Avenir Next LT Pro" pitchFamily="34" charset="-120"/>
              </a:rPr>
              <a:t>Rendement à calculer</a:t>
            </a:r>
            <a:endParaRPr lang="en-US" sz="800" dirty="0"/>
          </a:p>
        </p:txBody>
      </p:sp>
      <p:sp>
        <p:nvSpPr>
          <p:cNvPr id="36" name="Shape 33"/>
          <p:cNvSpPr/>
          <p:nvPr/>
        </p:nvSpPr>
        <p:spPr>
          <a:xfrm>
            <a:off x="457200" y="4800600"/>
            <a:ext cx="8229600" cy="0"/>
          </a:xfrm>
          <a:prstGeom prst="line">
            <a:avLst/>
          </a:prstGeom>
          <a:noFill/>
          <a:ln w="6350">
            <a:solidFill>
              <a:srgbClr val="E5E0D7"/>
            </a:solidFill>
            <a:prstDash val="solid"/>
          </a:ln>
        </p:spPr>
      </p:sp>
      <p:sp>
        <p:nvSpPr>
          <p:cNvPr id="37" name="Text 34"/>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8" name="Text 35"/>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09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07  ·  DIAGNOSTIC INTERNE ET EXTERNE</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MATRICE</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Analyse SWOT</a:t>
            </a:r>
            <a:endParaRPr lang="en-US" sz="2600" dirty="0"/>
          </a:p>
        </p:txBody>
      </p:sp>
      <p:sp>
        <p:nvSpPr>
          <p:cNvPr id="9" name="Shape 6"/>
          <p:cNvSpPr/>
          <p:nvPr/>
        </p:nvSpPr>
        <p:spPr>
          <a:xfrm>
            <a:off x="457200" y="2057400"/>
            <a:ext cx="4023360" cy="1234440"/>
          </a:xfrm>
          <a:prstGeom prst="rect">
            <a:avLst/>
          </a:prstGeom>
          <a:solidFill>
            <a:srgbClr val="FFFFFF"/>
          </a:solidFill>
          <a:ln w="6350">
            <a:solidFill>
              <a:srgbClr val="E5E0D7"/>
            </a:solidFill>
            <a:prstDash val="solid"/>
          </a:ln>
        </p:spPr>
      </p:sp>
      <p:sp>
        <p:nvSpPr>
          <p:cNvPr id="10" name="Shape 7"/>
          <p:cNvSpPr/>
          <p:nvPr/>
        </p:nvSpPr>
        <p:spPr>
          <a:xfrm>
            <a:off x="457200" y="2057400"/>
            <a:ext cx="45720" cy="1234440"/>
          </a:xfrm>
          <a:prstGeom prst="rect">
            <a:avLst/>
          </a:prstGeom>
          <a:solidFill>
            <a:srgbClr val="B8860B"/>
          </a:solidFill>
          <a:ln w="12700">
            <a:solidFill>
              <a:srgbClr val="B8860B"/>
            </a:solidFill>
            <a:prstDash val="solid"/>
          </a:ln>
        </p:spPr>
      </p:sp>
      <p:sp>
        <p:nvSpPr>
          <p:cNvPr id="11" name="Text 8"/>
          <p:cNvSpPr/>
          <p:nvPr/>
        </p:nvSpPr>
        <p:spPr>
          <a:xfrm>
            <a:off x="685800" y="2221992"/>
            <a:ext cx="3566160" cy="274320"/>
          </a:xfrm>
          <a:prstGeom prst="rect">
            <a:avLst/>
          </a:prstGeom>
          <a:noFill/>
          <a:ln/>
        </p:spPr>
        <p:txBody>
          <a:bodyPr wrap="square" lIns="0" tIns="0" rIns="0" bIns="0" rtlCol="0" anchor="ctr"/>
          <a:lstStyle/>
          <a:p>
            <a:pPr indent="0" marL="0">
              <a:buNone/>
            </a:pPr>
            <a:r>
              <a:rPr lang="en-US" sz="1100" b="1" spc="400" kern="0" dirty="0">
                <a:solidFill>
                  <a:srgbClr val="1A1A1A"/>
                </a:solidFill>
                <a:latin typeface="Avenir Next LT Pro" pitchFamily="34" charset="0"/>
                <a:ea typeface="Avenir Next LT Pro" pitchFamily="34" charset="-122"/>
                <a:cs typeface="Avenir Next LT Pro" pitchFamily="34" charset="-120"/>
              </a:rPr>
              <a:t>FORCES</a:t>
            </a:r>
            <a:endParaRPr lang="en-US" sz="1100" dirty="0"/>
          </a:p>
        </p:txBody>
      </p:sp>
      <p:sp>
        <p:nvSpPr>
          <p:cNvPr id="12" name="Shape 9"/>
          <p:cNvSpPr/>
          <p:nvPr/>
        </p:nvSpPr>
        <p:spPr>
          <a:xfrm>
            <a:off x="685800" y="2560320"/>
            <a:ext cx="365760" cy="0"/>
          </a:xfrm>
          <a:prstGeom prst="line">
            <a:avLst/>
          </a:prstGeom>
          <a:noFill/>
          <a:ln w="15240">
            <a:solidFill>
              <a:srgbClr val="B8860B"/>
            </a:solidFill>
            <a:prstDash val="solid"/>
          </a:ln>
        </p:spPr>
      </p:sp>
      <p:sp>
        <p:nvSpPr>
          <p:cNvPr id="13" name="Text 10"/>
          <p:cNvSpPr/>
          <p:nvPr/>
        </p:nvSpPr>
        <p:spPr>
          <a:xfrm>
            <a:off x="685800" y="2651760"/>
            <a:ext cx="3566160" cy="548640"/>
          </a:xfrm>
          <a:prstGeom prst="rect">
            <a:avLst/>
          </a:prstGeom>
          <a:noFill/>
          <a:ln/>
        </p:spPr>
        <p:txBody>
          <a:bodyPr wrap="square" lIns="0" tIns="0" rIns="0" bIns="0" rtlCol="0" anchor="t"/>
          <a:lstStyle/>
          <a:p>
            <a:pPr indent="0" marL="0">
              <a:buNone/>
            </a:pPr>
            <a:r>
              <a:rPr lang="en-US" sz="1100" i="1" dirty="0">
                <a:solidFill>
                  <a:srgbClr val="B5A77E"/>
                </a:solidFill>
                <a:latin typeface="Georgia" pitchFamily="34" charset="0"/>
                <a:ea typeface="Georgia" pitchFamily="34" charset="-122"/>
                <a:cs typeface="Georgia" pitchFamily="34" charset="-120"/>
              </a:rPr>
              <a:t>À compléter</a:t>
            </a:r>
            <a:endParaRPr lang="en-US" sz="1100" dirty="0"/>
          </a:p>
        </p:txBody>
      </p:sp>
      <p:sp>
        <p:nvSpPr>
          <p:cNvPr id="14" name="Shape 11"/>
          <p:cNvSpPr/>
          <p:nvPr/>
        </p:nvSpPr>
        <p:spPr>
          <a:xfrm>
            <a:off x="4663440" y="2057400"/>
            <a:ext cx="4023360" cy="1234440"/>
          </a:xfrm>
          <a:prstGeom prst="rect">
            <a:avLst/>
          </a:prstGeom>
          <a:solidFill>
            <a:srgbClr val="FFFFFF"/>
          </a:solidFill>
          <a:ln w="6350">
            <a:solidFill>
              <a:srgbClr val="E5E0D7"/>
            </a:solidFill>
            <a:prstDash val="solid"/>
          </a:ln>
        </p:spPr>
      </p:sp>
      <p:sp>
        <p:nvSpPr>
          <p:cNvPr id="15" name="Shape 12"/>
          <p:cNvSpPr/>
          <p:nvPr/>
        </p:nvSpPr>
        <p:spPr>
          <a:xfrm>
            <a:off x="4663440" y="2057400"/>
            <a:ext cx="45720" cy="1234440"/>
          </a:xfrm>
          <a:prstGeom prst="rect">
            <a:avLst/>
          </a:prstGeom>
          <a:solidFill>
            <a:srgbClr val="8A7B5C"/>
          </a:solidFill>
          <a:ln w="12700">
            <a:solidFill>
              <a:srgbClr val="8A7B5C"/>
            </a:solidFill>
            <a:prstDash val="solid"/>
          </a:ln>
        </p:spPr>
      </p:sp>
      <p:sp>
        <p:nvSpPr>
          <p:cNvPr id="16" name="Text 13"/>
          <p:cNvSpPr/>
          <p:nvPr/>
        </p:nvSpPr>
        <p:spPr>
          <a:xfrm>
            <a:off x="4892040" y="2221992"/>
            <a:ext cx="3566160" cy="274320"/>
          </a:xfrm>
          <a:prstGeom prst="rect">
            <a:avLst/>
          </a:prstGeom>
          <a:noFill/>
          <a:ln/>
        </p:spPr>
        <p:txBody>
          <a:bodyPr wrap="square" lIns="0" tIns="0" rIns="0" bIns="0" rtlCol="0" anchor="ctr"/>
          <a:lstStyle/>
          <a:p>
            <a:pPr indent="0" marL="0">
              <a:buNone/>
            </a:pPr>
            <a:r>
              <a:rPr lang="en-US" sz="1100" b="1" spc="400" kern="0" dirty="0">
                <a:solidFill>
                  <a:srgbClr val="1A1A1A"/>
                </a:solidFill>
                <a:latin typeface="Avenir Next LT Pro" pitchFamily="34" charset="0"/>
                <a:ea typeface="Avenir Next LT Pro" pitchFamily="34" charset="-122"/>
                <a:cs typeface="Avenir Next LT Pro" pitchFamily="34" charset="-120"/>
              </a:rPr>
              <a:t>FAIBLESSES</a:t>
            </a:r>
            <a:endParaRPr lang="en-US" sz="1100" dirty="0"/>
          </a:p>
        </p:txBody>
      </p:sp>
      <p:sp>
        <p:nvSpPr>
          <p:cNvPr id="17" name="Shape 14"/>
          <p:cNvSpPr/>
          <p:nvPr/>
        </p:nvSpPr>
        <p:spPr>
          <a:xfrm>
            <a:off x="4892040" y="2560320"/>
            <a:ext cx="365760" cy="0"/>
          </a:xfrm>
          <a:prstGeom prst="line">
            <a:avLst/>
          </a:prstGeom>
          <a:noFill/>
          <a:ln w="15240">
            <a:solidFill>
              <a:srgbClr val="8A7B5C"/>
            </a:solidFill>
            <a:prstDash val="solid"/>
          </a:ln>
        </p:spPr>
      </p:sp>
      <p:sp>
        <p:nvSpPr>
          <p:cNvPr id="18" name="Text 15"/>
          <p:cNvSpPr/>
          <p:nvPr/>
        </p:nvSpPr>
        <p:spPr>
          <a:xfrm>
            <a:off x="4892040" y="2651760"/>
            <a:ext cx="3566160" cy="548640"/>
          </a:xfrm>
          <a:prstGeom prst="rect">
            <a:avLst/>
          </a:prstGeom>
          <a:noFill/>
          <a:ln/>
        </p:spPr>
        <p:txBody>
          <a:bodyPr wrap="square" lIns="0" tIns="0" rIns="0" bIns="0" rtlCol="0" anchor="t"/>
          <a:lstStyle/>
          <a:p>
            <a:pPr indent="0" marL="0">
              <a:buNone/>
            </a:pPr>
            <a:r>
              <a:rPr lang="en-US" sz="1100" i="1" dirty="0">
                <a:solidFill>
                  <a:srgbClr val="B5A77E"/>
                </a:solidFill>
                <a:latin typeface="Georgia" pitchFamily="34" charset="0"/>
                <a:ea typeface="Georgia" pitchFamily="34" charset="-122"/>
                <a:cs typeface="Georgia" pitchFamily="34" charset="-120"/>
              </a:rPr>
              <a:t>À compléter</a:t>
            </a:r>
            <a:endParaRPr lang="en-US" sz="1100" dirty="0"/>
          </a:p>
        </p:txBody>
      </p:sp>
      <p:sp>
        <p:nvSpPr>
          <p:cNvPr id="19" name="Shape 16"/>
          <p:cNvSpPr/>
          <p:nvPr/>
        </p:nvSpPr>
        <p:spPr>
          <a:xfrm>
            <a:off x="457200" y="3429000"/>
            <a:ext cx="4023360" cy="1234440"/>
          </a:xfrm>
          <a:prstGeom prst="rect">
            <a:avLst/>
          </a:prstGeom>
          <a:solidFill>
            <a:srgbClr val="FFFFFF"/>
          </a:solidFill>
          <a:ln w="6350">
            <a:solidFill>
              <a:srgbClr val="E5E0D7"/>
            </a:solidFill>
            <a:prstDash val="solid"/>
          </a:ln>
        </p:spPr>
      </p:sp>
      <p:sp>
        <p:nvSpPr>
          <p:cNvPr id="20" name="Shape 17"/>
          <p:cNvSpPr/>
          <p:nvPr/>
        </p:nvSpPr>
        <p:spPr>
          <a:xfrm>
            <a:off x="457200" y="3429000"/>
            <a:ext cx="45720" cy="1234440"/>
          </a:xfrm>
          <a:prstGeom prst="rect">
            <a:avLst/>
          </a:prstGeom>
          <a:solidFill>
            <a:srgbClr val="B8860B"/>
          </a:solidFill>
          <a:ln w="12700">
            <a:solidFill>
              <a:srgbClr val="B8860B"/>
            </a:solidFill>
            <a:prstDash val="solid"/>
          </a:ln>
        </p:spPr>
      </p:sp>
      <p:sp>
        <p:nvSpPr>
          <p:cNvPr id="21" name="Text 18"/>
          <p:cNvSpPr/>
          <p:nvPr/>
        </p:nvSpPr>
        <p:spPr>
          <a:xfrm>
            <a:off x="685800" y="3593592"/>
            <a:ext cx="3566160" cy="274320"/>
          </a:xfrm>
          <a:prstGeom prst="rect">
            <a:avLst/>
          </a:prstGeom>
          <a:noFill/>
          <a:ln/>
        </p:spPr>
        <p:txBody>
          <a:bodyPr wrap="square" lIns="0" tIns="0" rIns="0" bIns="0" rtlCol="0" anchor="ctr"/>
          <a:lstStyle/>
          <a:p>
            <a:pPr indent="0" marL="0">
              <a:buNone/>
            </a:pPr>
            <a:r>
              <a:rPr lang="en-US" sz="1100" b="1" spc="400" kern="0" dirty="0">
                <a:solidFill>
                  <a:srgbClr val="1A1A1A"/>
                </a:solidFill>
                <a:latin typeface="Avenir Next LT Pro" pitchFamily="34" charset="0"/>
                <a:ea typeface="Avenir Next LT Pro" pitchFamily="34" charset="-122"/>
                <a:cs typeface="Avenir Next LT Pro" pitchFamily="34" charset="-120"/>
              </a:rPr>
              <a:t>OPPORTUNITÉS</a:t>
            </a:r>
            <a:endParaRPr lang="en-US" sz="1100" dirty="0"/>
          </a:p>
        </p:txBody>
      </p:sp>
      <p:sp>
        <p:nvSpPr>
          <p:cNvPr id="22" name="Shape 19"/>
          <p:cNvSpPr/>
          <p:nvPr/>
        </p:nvSpPr>
        <p:spPr>
          <a:xfrm>
            <a:off x="685800" y="3931920"/>
            <a:ext cx="365760" cy="0"/>
          </a:xfrm>
          <a:prstGeom prst="line">
            <a:avLst/>
          </a:prstGeom>
          <a:noFill/>
          <a:ln w="15240">
            <a:solidFill>
              <a:srgbClr val="B8860B"/>
            </a:solidFill>
            <a:prstDash val="solid"/>
          </a:ln>
        </p:spPr>
      </p:sp>
      <p:sp>
        <p:nvSpPr>
          <p:cNvPr id="23" name="Text 20"/>
          <p:cNvSpPr/>
          <p:nvPr/>
        </p:nvSpPr>
        <p:spPr>
          <a:xfrm>
            <a:off x="685800" y="4023360"/>
            <a:ext cx="3566160" cy="548640"/>
          </a:xfrm>
          <a:prstGeom prst="rect">
            <a:avLst/>
          </a:prstGeom>
          <a:noFill/>
          <a:ln/>
        </p:spPr>
        <p:txBody>
          <a:bodyPr wrap="square" lIns="0" tIns="0" rIns="0" bIns="0" rtlCol="0" anchor="t"/>
          <a:lstStyle/>
          <a:p>
            <a:pPr indent="0" marL="0">
              <a:buNone/>
            </a:pPr>
            <a:r>
              <a:rPr lang="en-US" sz="1100" i="1" dirty="0">
                <a:solidFill>
                  <a:srgbClr val="B5A77E"/>
                </a:solidFill>
                <a:latin typeface="Georgia" pitchFamily="34" charset="0"/>
                <a:ea typeface="Georgia" pitchFamily="34" charset="-122"/>
                <a:cs typeface="Georgia" pitchFamily="34" charset="-120"/>
              </a:rPr>
              <a:t>À compléter</a:t>
            </a:r>
            <a:endParaRPr lang="en-US" sz="1100" dirty="0"/>
          </a:p>
        </p:txBody>
      </p:sp>
      <p:sp>
        <p:nvSpPr>
          <p:cNvPr id="24" name="Shape 21"/>
          <p:cNvSpPr/>
          <p:nvPr/>
        </p:nvSpPr>
        <p:spPr>
          <a:xfrm>
            <a:off x="4663440" y="3429000"/>
            <a:ext cx="4023360" cy="1234440"/>
          </a:xfrm>
          <a:prstGeom prst="rect">
            <a:avLst/>
          </a:prstGeom>
          <a:solidFill>
            <a:srgbClr val="FFFFFF"/>
          </a:solidFill>
          <a:ln w="6350">
            <a:solidFill>
              <a:srgbClr val="E5E0D7"/>
            </a:solidFill>
            <a:prstDash val="solid"/>
          </a:ln>
        </p:spPr>
      </p:sp>
      <p:sp>
        <p:nvSpPr>
          <p:cNvPr id="25" name="Shape 22"/>
          <p:cNvSpPr/>
          <p:nvPr/>
        </p:nvSpPr>
        <p:spPr>
          <a:xfrm>
            <a:off x="4663440" y="3429000"/>
            <a:ext cx="45720" cy="1234440"/>
          </a:xfrm>
          <a:prstGeom prst="rect">
            <a:avLst/>
          </a:prstGeom>
          <a:solidFill>
            <a:srgbClr val="1A1A1A"/>
          </a:solidFill>
          <a:ln w="12700">
            <a:solidFill>
              <a:srgbClr val="1A1A1A"/>
            </a:solidFill>
            <a:prstDash val="solid"/>
          </a:ln>
        </p:spPr>
      </p:sp>
      <p:sp>
        <p:nvSpPr>
          <p:cNvPr id="26" name="Text 23"/>
          <p:cNvSpPr/>
          <p:nvPr/>
        </p:nvSpPr>
        <p:spPr>
          <a:xfrm>
            <a:off x="4892040" y="3593592"/>
            <a:ext cx="3566160" cy="274320"/>
          </a:xfrm>
          <a:prstGeom prst="rect">
            <a:avLst/>
          </a:prstGeom>
          <a:noFill/>
          <a:ln/>
        </p:spPr>
        <p:txBody>
          <a:bodyPr wrap="square" lIns="0" tIns="0" rIns="0" bIns="0" rtlCol="0" anchor="ctr"/>
          <a:lstStyle/>
          <a:p>
            <a:pPr indent="0" marL="0">
              <a:buNone/>
            </a:pPr>
            <a:r>
              <a:rPr lang="en-US" sz="1100" b="1" spc="400" kern="0" dirty="0">
                <a:solidFill>
                  <a:srgbClr val="1A1A1A"/>
                </a:solidFill>
                <a:latin typeface="Avenir Next LT Pro" pitchFamily="34" charset="0"/>
                <a:ea typeface="Avenir Next LT Pro" pitchFamily="34" charset="-122"/>
                <a:cs typeface="Avenir Next LT Pro" pitchFamily="34" charset="-120"/>
              </a:rPr>
              <a:t>MENACES</a:t>
            </a:r>
            <a:endParaRPr lang="en-US" sz="1100" dirty="0"/>
          </a:p>
        </p:txBody>
      </p:sp>
      <p:sp>
        <p:nvSpPr>
          <p:cNvPr id="27" name="Shape 24"/>
          <p:cNvSpPr/>
          <p:nvPr/>
        </p:nvSpPr>
        <p:spPr>
          <a:xfrm>
            <a:off x="4892040" y="3931920"/>
            <a:ext cx="365760" cy="0"/>
          </a:xfrm>
          <a:prstGeom prst="line">
            <a:avLst/>
          </a:prstGeom>
          <a:noFill/>
          <a:ln w="15240">
            <a:solidFill>
              <a:srgbClr val="1A1A1A"/>
            </a:solidFill>
            <a:prstDash val="solid"/>
          </a:ln>
        </p:spPr>
      </p:sp>
      <p:sp>
        <p:nvSpPr>
          <p:cNvPr id="28" name="Text 25"/>
          <p:cNvSpPr/>
          <p:nvPr/>
        </p:nvSpPr>
        <p:spPr>
          <a:xfrm>
            <a:off x="4892040" y="4023360"/>
            <a:ext cx="3566160" cy="548640"/>
          </a:xfrm>
          <a:prstGeom prst="rect">
            <a:avLst/>
          </a:prstGeom>
          <a:noFill/>
          <a:ln/>
        </p:spPr>
        <p:txBody>
          <a:bodyPr wrap="square" lIns="0" tIns="0" rIns="0" bIns="0" rtlCol="0" anchor="t"/>
          <a:lstStyle/>
          <a:p>
            <a:pPr indent="0" marL="0">
              <a:buNone/>
            </a:pPr>
            <a:r>
              <a:rPr lang="en-US" sz="1100" i="1" dirty="0">
                <a:solidFill>
                  <a:srgbClr val="B5A77E"/>
                </a:solidFill>
                <a:latin typeface="Georgia" pitchFamily="34" charset="0"/>
                <a:ea typeface="Georgia" pitchFamily="34" charset="-122"/>
                <a:cs typeface="Georgia" pitchFamily="34" charset="-120"/>
              </a:rPr>
              <a:t>À compléter</a:t>
            </a:r>
            <a:endParaRPr lang="en-US" sz="1100" dirty="0"/>
          </a:p>
        </p:txBody>
      </p:sp>
      <p:sp>
        <p:nvSpPr>
          <p:cNvPr id="29" name="Shape 26"/>
          <p:cNvSpPr/>
          <p:nvPr/>
        </p:nvSpPr>
        <p:spPr>
          <a:xfrm>
            <a:off x="457200" y="4800600"/>
            <a:ext cx="8229600" cy="0"/>
          </a:xfrm>
          <a:prstGeom prst="line">
            <a:avLst/>
          </a:prstGeom>
          <a:noFill/>
          <a:ln w="6350">
            <a:solidFill>
              <a:srgbClr val="E5E0D7"/>
            </a:solidFill>
            <a:prstDash val="solid"/>
          </a:ln>
        </p:spPr>
      </p:sp>
      <p:sp>
        <p:nvSpPr>
          <p:cNvPr id="30" name="Text 27"/>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31" name="Text 28"/>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08  ·  POINT MARCHÉ</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DONNÉES MARCHÉ</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Comparables et indicateurs Orléans</a:t>
            </a:r>
            <a:endParaRPr lang="en-US" sz="2600" dirty="0"/>
          </a:p>
        </p:txBody>
      </p:sp>
      <p:sp>
        <p:nvSpPr>
          <p:cNvPr id="9" name="Shape 6"/>
          <p:cNvSpPr/>
          <p:nvPr/>
        </p:nvSpPr>
        <p:spPr>
          <a:xfrm>
            <a:off x="457200" y="2103120"/>
            <a:ext cx="8229600" cy="2560320"/>
          </a:xfrm>
          <a:prstGeom prst="rect">
            <a:avLst/>
          </a:prstGeom>
          <a:solidFill>
            <a:srgbClr val="FFFFFF"/>
          </a:solidFill>
          <a:ln w="6350">
            <a:solidFill>
              <a:srgbClr val="E5E0D7"/>
            </a:solidFill>
            <a:prstDash val="solid"/>
          </a:ln>
        </p:spPr>
      </p:sp>
      <p:sp>
        <p:nvSpPr>
          <p:cNvPr id="10" name="Shape 7"/>
          <p:cNvSpPr/>
          <p:nvPr/>
        </p:nvSpPr>
        <p:spPr>
          <a:xfrm>
            <a:off x="457200" y="2103120"/>
            <a:ext cx="8229600" cy="54864"/>
          </a:xfrm>
          <a:prstGeom prst="rect">
            <a:avLst/>
          </a:prstGeom>
          <a:solidFill>
            <a:srgbClr val="B8860B"/>
          </a:solidFill>
          <a:ln w="12700">
            <a:solidFill>
              <a:srgbClr val="B8860B"/>
            </a:solidFill>
            <a:prstDash val="solid"/>
          </a:ln>
        </p:spPr>
      </p:sp>
      <p:sp>
        <p:nvSpPr>
          <p:cNvPr id="11" name="Text 8"/>
          <p:cNvSpPr/>
          <p:nvPr/>
        </p:nvSpPr>
        <p:spPr>
          <a:xfrm>
            <a:off x="457200" y="2606040"/>
            <a:ext cx="8229600" cy="320040"/>
          </a:xfrm>
          <a:prstGeom prst="rect">
            <a:avLst/>
          </a:prstGeom>
          <a:noFill/>
          <a:ln/>
        </p:spPr>
        <p:txBody>
          <a:bodyPr wrap="square" lIns="0" tIns="0" rIns="0" bIns="0" rtlCol="0" anchor="ctr"/>
          <a:lstStyle/>
          <a:p>
            <a:pPr algn="ctr" indent="0" marL="0">
              <a:buNone/>
            </a:pPr>
            <a:r>
              <a:rPr lang="en-US" sz="1000" b="1" spc="500" kern="0" dirty="0">
                <a:solidFill>
                  <a:srgbClr val="B8860B"/>
                </a:solidFill>
                <a:latin typeface="Avenir Next LT Pro" pitchFamily="34" charset="0"/>
                <a:ea typeface="Avenir Next LT Pro" pitchFamily="34" charset="-122"/>
                <a:cs typeface="Avenir Next LT Pro" pitchFamily="34" charset="-120"/>
              </a:rPr>
              <a:t>DONNÉES À INTÉGRER</a:t>
            </a:r>
            <a:endParaRPr lang="en-US" sz="1000" dirty="0"/>
          </a:p>
        </p:txBody>
      </p:sp>
      <p:sp>
        <p:nvSpPr>
          <p:cNvPr id="12" name="Shape 9"/>
          <p:cNvSpPr/>
          <p:nvPr/>
        </p:nvSpPr>
        <p:spPr>
          <a:xfrm>
            <a:off x="4206240" y="3017520"/>
            <a:ext cx="731520" cy="0"/>
          </a:xfrm>
          <a:prstGeom prst="line">
            <a:avLst/>
          </a:prstGeom>
          <a:noFill/>
          <a:ln w="12700">
            <a:solidFill>
              <a:srgbClr val="B8860B"/>
            </a:solidFill>
            <a:prstDash val="solid"/>
          </a:ln>
        </p:spPr>
      </p:sp>
      <p:sp>
        <p:nvSpPr>
          <p:cNvPr id="13" name="Text 10"/>
          <p:cNvSpPr/>
          <p:nvPr/>
        </p:nvSpPr>
        <p:spPr>
          <a:xfrm>
            <a:off x="1371600" y="3200400"/>
            <a:ext cx="6400800" cy="1188720"/>
          </a:xfrm>
          <a:prstGeom prst="rect">
            <a:avLst/>
          </a:prstGeom>
          <a:noFill/>
          <a:ln/>
        </p:spPr>
        <p:txBody>
          <a:bodyPr wrap="square" lIns="0" tIns="0" rIns="0" bIns="0" rtlCol="0" anchor="t"/>
          <a:lstStyle/>
          <a:p>
            <a:pPr algn="ctr" indent="0" marL="0">
              <a:buNone/>
            </a:pPr>
            <a:r>
              <a:rPr lang="en-US" sz="1200" i="1" dirty="0">
                <a:solidFill>
                  <a:srgbClr val="8A7B5C"/>
                </a:solidFill>
                <a:latin typeface="Georgia" pitchFamily="34" charset="0"/>
                <a:ea typeface="Georgia" pitchFamily="34" charset="-122"/>
                <a:cs typeface="Georgia" pitchFamily="34" charset="-120"/>
              </a:rPr>
              <a:t>Prix au mètre carré, hyper centre Orléans. Comparables transactions récentes. Loyers constatés sur biens similaires. Tension locative et délai moyen de relocation.</a:t>
            </a:r>
            <a:endParaRPr lang="en-US" sz="1200" dirty="0"/>
          </a:p>
        </p:txBody>
      </p:sp>
      <p:sp>
        <p:nvSpPr>
          <p:cNvPr id="14" name="Shape 11"/>
          <p:cNvSpPr/>
          <p:nvPr/>
        </p:nvSpPr>
        <p:spPr>
          <a:xfrm>
            <a:off x="457200" y="4800600"/>
            <a:ext cx="8229600" cy="0"/>
          </a:xfrm>
          <a:prstGeom prst="line">
            <a:avLst/>
          </a:prstGeom>
          <a:noFill/>
          <a:ln w="6350">
            <a:solidFill>
              <a:srgbClr val="E5E0D7"/>
            </a:solidFill>
            <a:prstDash val="solid"/>
          </a:ln>
        </p:spPr>
      </p:sp>
      <p:sp>
        <p:nvSpPr>
          <p:cNvPr id="15" name="Text 12"/>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16" name="Text 13"/>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09  ·  REPORTAGE PHOTO, ÉTAT ACTUEL</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CHANTIER</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État avant et travaux en cours</a:t>
            </a:r>
            <a:endParaRPr lang="en-US" sz="2600" dirty="0"/>
          </a:p>
        </p:txBody>
      </p:sp>
      <p:sp>
        <p:nvSpPr>
          <p:cNvPr id="9" name="Shape 6"/>
          <p:cNvSpPr/>
          <p:nvPr/>
        </p:nvSpPr>
        <p:spPr>
          <a:xfrm>
            <a:off x="457200" y="2103120"/>
            <a:ext cx="2606040" cy="1188720"/>
          </a:xfrm>
          <a:prstGeom prst="rect">
            <a:avLst/>
          </a:prstGeom>
          <a:solidFill>
            <a:srgbClr val="FAFAF8"/>
          </a:solidFill>
          <a:ln w="6350">
            <a:solidFill>
              <a:srgbClr val="E5E0D7"/>
            </a:solidFill>
            <a:prstDash val="solid"/>
          </a:ln>
        </p:spPr>
      </p:sp>
      <p:sp>
        <p:nvSpPr>
          <p:cNvPr id="10" name="Shape 7"/>
          <p:cNvSpPr/>
          <p:nvPr/>
        </p:nvSpPr>
        <p:spPr>
          <a:xfrm>
            <a:off x="457200" y="2103120"/>
            <a:ext cx="2606040" cy="36576"/>
          </a:xfrm>
          <a:prstGeom prst="rect">
            <a:avLst/>
          </a:prstGeom>
          <a:solidFill>
            <a:srgbClr val="B8860B"/>
          </a:solidFill>
          <a:ln w="12700">
            <a:solidFill>
              <a:srgbClr val="B8860B"/>
            </a:solidFill>
            <a:prstDash val="solid"/>
          </a:ln>
        </p:spPr>
      </p:sp>
      <p:sp>
        <p:nvSpPr>
          <p:cNvPr id="11" name="Text 8"/>
          <p:cNvSpPr/>
          <p:nvPr/>
        </p:nvSpPr>
        <p:spPr>
          <a:xfrm>
            <a:off x="45720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01</a:t>
            </a:r>
            <a:endParaRPr lang="en-US" sz="900" dirty="0"/>
          </a:p>
        </p:txBody>
      </p:sp>
      <p:sp>
        <p:nvSpPr>
          <p:cNvPr id="12" name="Shape 9"/>
          <p:cNvSpPr/>
          <p:nvPr/>
        </p:nvSpPr>
        <p:spPr>
          <a:xfrm>
            <a:off x="3246120" y="2103120"/>
            <a:ext cx="2606040" cy="1188720"/>
          </a:xfrm>
          <a:prstGeom prst="rect">
            <a:avLst/>
          </a:prstGeom>
          <a:solidFill>
            <a:srgbClr val="FAFAF8"/>
          </a:solidFill>
          <a:ln w="6350">
            <a:solidFill>
              <a:srgbClr val="E5E0D7"/>
            </a:solidFill>
            <a:prstDash val="solid"/>
          </a:ln>
        </p:spPr>
      </p:sp>
      <p:sp>
        <p:nvSpPr>
          <p:cNvPr id="13" name="Shape 10"/>
          <p:cNvSpPr/>
          <p:nvPr/>
        </p:nvSpPr>
        <p:spPr>
          <a:xfrm>
            <a:off x="3246120" y="2103120"/>
            <a:ext cx="2606040" cy="36576"/>
          </a:xfrm>
          <a:prstGeom prst="rect">
            <a:avLst/>
          </a:prstGeom>
          <a:solidFill>
            <a:srgbClr val="B8860B"/>
          </a:solidFill>
          <a:ln w="12700">
            <a:solidFill>
              <a:srgbClr val="B8860B"/>
            </a:solidFill>
            <a:prstDash val="solid"/>
          </a:ln>
        </p:spPr>
      </p:sp>
      <p:sp>
        <p:nvSpPr>
          <p:cNvPr id="14" name="Text 11"/>
          <p:cNvSpPr/>
          <p:nvPr/>
        </p:nvSpPr>
        <p:spPr>
          <a:xfrm>
            <a:off x="324612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02</a:t>
            </a:r>
            <a:endParaRPr lang="en-US" sz="900" dirty="0"/>
          </a:p>
        </p:txBody>
      </p:sp>
      <p:sp>
        <p:nvSpPr>
          <p:cNvPr id="15" name="Shape 12"/>
          <p:cNvSpPr/>
          <p:nvPr/>
        </p:nvSpPr>
        <p:spPr>
          <a:xfrm>
            <a:off x="6035040" y="2103120"/>
            <a:ext cx="2606040" cy="1188720"/>
          </a:xfrm>
          <a:prstGeom prst="rect">
            <a:avLst/>
          </a:prstGeom>
          <a:solidFill>
            <a:srgbClr val="FAFAF8"/>
          </a:solidFill>
          <a:ln w="6350">
            <a:solidFill>
              <a:srgbClr val="E5E0D7"/>
            </a:solidFill>
            <a:prstDash val="solid"/>
          </a:ln>
        </p:spPr>
      </p:sp>
      <p:sp>
        <p:nvSpPr>
          <p:cNvPr id="16" name="Shape 13"/>
          <p:cNvSpPr/>
          <p:nvPr/>
        </p:nvSpPr>
        <p:spPr>
          <a:xfrm>
            <a:off x="6035040" y="2103120"/>
            <a:ext cx="2606040" cy="36576"/>
          </a:xfrm>
          <a:prstGeom prst="rect">
            <a:avLst/>
          </a:prstGeom>
          <a:solidFill>
            <a:srgbClr val="B8860B"/>
          </a:solidFill>
          <a:ln w="12700">
            <a:solidFill>
              <a:srgbClr val="B8860B"/>
            </a:solidFill>
            <a:prstDash val="solid"/>
          </a:ln>
        </p:spPr>
      </p:sp>
      <p:sp>
        <p:nvSpPr>
          <p:cNvPr id="17" name="Text 14"/>
          <p:cNvSpPr/>
          <p:nvPr/>
        </p:nvSpPr>
        <p:spPr>
          <a:xfrm>
            <a:off x="603504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03</a:t>
            </a:r>
            <a:endParaRPr lang="en-US" sz="900" dirty="0"/>
          </a:p>
        </p:txBody>
      </p:sp>
      <p:sp>
        <p:nvSpPr>
          <p:cNvPr id="18" name="Shape 15"/>
          <p:cNvSpPr/>
          <p:nvPr/>
        </p:nvSpPr>
        <p:spPr>
          <a:xfrm>
            <a:off x="457200" y="3474720"/>
            <a:ext cx="2606040" cy="1188720"/>
          </a:xfrm>
          <a:prstGeom prst="rect">
            <a:avLst/>
          </a:prstGeom>
          <a:solidFill>
            <a:srgbClr val="FAFAF8"/>
          </a:solidFill>
          <a:ln w="6350">
            <a:solidFill>
              <a:srgbClr val="E5E0D7"/>
            </a:solidFill>
            <a:prstDash val="solid"/>
          </a:ln>
        </p:spPr>
      </p:sp>
      <p:sp>
        <p:nvSpPr>
          <p:cNvPr id="19" name="Shape 16"/>
          <p:cNvSpPr/>
          <p:nvPr/>
        </p:nvSpPr>
        <p:spPr>
          <a:xfrm>
            <a:off x="457200" y="3474720"/>
            <a:ext cx="2606040" cy="36576"/>
          </a:xfrm>
          <a:prstGeom prst="rect">
            <a:avLst/>
          </a:prstGeom>
          <a:solidFill>
            <a:srgbClr val="B8860B"/>
          </a:solidFill>
          <a:ln w="12700">
            <a:solidFill>
              <a:srgbClr val="B8860B"/>
            </a:solidFill>
            <a:prstDash val="solid"/>
          </a:ln>
        </p:spPr>
      </p:sp>
      <p:sp>
        <p:nvSpPr>
          <p:cNvPr id="20" name="Text 17"/>
          <p:cNvSpPr/>
          <p:nvPr/>
        </p:nvSpPr>
        <p:spPr>
          <a:xfrm>
            <a:off x="45720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04</a:t>
            </a:r>
            <a:endParaRPr lang="en-US" sz="900" dirty="0"/>
          </a:p>
        </p:txBody>
      </p:sp>
      <p:sp>
        <p:nvSpPr>
          <p:cNvPr id="21" name="Shape 18"/>
          <p:cNvSpPr/>
          <p:nvPr/>
        </p:nvSpPr>
        <p:spPr>
          <a:xfrm>
            <a:off x="3246120" y="3474720"/>
            <a:ext cx="2606040" cy="1188720"/>
          </a:xfrm>
          <a:prstGeom prst="rect">
            <a:avLst/>
          </a:prstGeom>
          <a:solidFill>
            <a:srgbClr val="FAFAF8"/>
          </a:solidFill>
          <a:ln w="6350">
            <a:solidFill>
              <a:srgbClr val="E5E0D7"/>
            </a:solidFill>
            <a:prstDash val="solid"/>
          </a:ln>
        </p:spPr>
      </p:sp>
      <p:sp>
        <p:nvSpPr>
          <p:cNvPr id="22" name="Shape 19"/>
          <p:cNvSpPr/>
          <p:nvPr/>
        </p:nvSpPr>
        <p:spPr>
          <a:xfrm>
            <a:off x="3246120" y="3474720"/>
            <a:ext cx="2606040" cy="36576"/>
          </a:xfrm>
          <a:prstGeom prst="rect">
            <a:avLst/>
          </a:prstGeom>
          <a:solidFill>
            <a:srgbClr val="B8860B"/>
          </a:solidFill>
          <a:ln w="12700">
            <a:solidFill>
              <a:srgbClr val="B8860B"/>
            </a:solidFill>
            <a:prstDash val="solid"/>
          </a:ln>
        </p:spPr>
      </p:sp>
      <p:sp>
        <p:nvSpPr>
          <p:cNvPr id="23" name="Text 20"/>
          <p:cNvSpPr/>
          <p:nvPr/>
        </p:nvSpPr>
        <p:spPr>
          <a:xfrm>
            <a:off x="324612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05</a:t>
            </a:r>
            <a:endParaRPr lang="en-US" sz="900" dirty="0"/>
          </a:p>
        </p:txBody>
      </p:sp>
      <p:sp>
        <p:nvSpPr>
          <p:cNvPr id="24" name="Shape 21"/>
          <p:cNvSpPr/>
          <p:nvPr/>
        </p:nvSpPr>
        <p:spPr>
          <a:xfrm>
            <a:off x="6035040" y="3474720"/>
            <a:ext cx="2606040" cy="1188720"/>
          </a:xfrm>
          <a:prstGeom prst="rect">
            <a:avLst/>
          </a:prstGeom>
          <a:solidFill>
            <a:srgbClr val="FAFAF8"/>
          </a:solidFill>
          <a:ln w="6350">
            <a:solidFill>
              <a:srgbClr val="E5E0D7"/>
            </a:solidFill>
            <a:prstDash val="solid"/>
          </a:ln>
        </p:spPr>
      </p:sp>
      <p:sp>
        <p:nvSpPr>
          <p:cNvPr id="25" name="Shape 22"/>
          <p:cNvSpPr/>
          <p:nvPr/>
        </p:nvSpPr>
        <p:spPr>
          <a:xfrm>
            <a:off x="6035040" y="3474720"/>
            <a:ext cx="2606040" cy="36576"/>
          </a:xfrm>
          <a:prstGeom prst="rect">
            <a:avLst/>
          </a:prstGeom>
          <a:solidFill>
            <a:srgbClr val="B8860B"/>
          </a:solidFill>
          <a:ln w="12700">
            <a:solidFill>
              <a:srgbClr val="B8860B"/>
            </a:solidFill>
            <a:prstDash val="solid"/>
          </a:ln>
        </p:spPr>
      </p:sp>
      <p:sp>
        <p:nvSpPr>
          <p:cNvPr id="26" name="Text 23"/>
          <p:cNvSpPr/>
          <p:nvPr/>
        </p:nvSpPr>
        <p:spPr>
          <a:xfrm>
            <a:off x="603504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PHOTO 06</a:t>
            </a:r>
            <a:endParaRPr lang="en-US" sz="900" dirty="0"/>
          </a:p>
        </p:txBody>
      </p:sp>
      <p:sp>
        <p:nvSpPr>
          <p:cNvPr id="27" name="Shape 24"/>
          <p:cNvSpPr/>
          <p:nvPr/>
        </p:nvSpPr>
        <p:spPr>
          <a:xfrm>
            <a:off x="457200" y="4800600"/>
            <a:ext cx="8229600" cy="0"/>
          </a:xfrm>
          <a:prstGeom prst="line">
            <a:avLst/>
          </a:prstGeom>
          <a:noFill/>
          <a:ln w="6350">
            <a:solidFill>
              <a:srgbClr val="E5E0D7"/>
            </a:solidFill>
            <a:prstDash val="solid"/>
          </a:ln>
        </p:spPr>
      </p:sp>
      <p:sp>
        <p:nvSpPr>
          <p:cNvPr id="28" name="Text 25"/>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29" name="Text 26"/>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F0"/>
        </a:solidFill>
      </p:bgPr>
    </p:bg>
    <p:spTree>
      <p:nvGrpSpPr>
        <p:cNvPr id="1" name=""/>
        <p:cNvGrpSpPr/>
        <p:nvPr/>
      </p:nvGrpSpPr>
      <p:grpSpPr>
        <a:xfrm>
          <a:off x="0" y="0"/>
          <a:ext cx="0" cy="0"/>
          <a:chOff x="0" y="0"/>
          <a:chExt cx="0" cy="0"/>
        </a:xfrm>
      </p:grpSpPr>
      <p:pic>
        <p:nvPicPr>
          <p:cNvPr id="2" name="Image 0" descr="/sessions/cool-amazing-brown/mnt/outputs/UR03/iris_rep_noir_blanc.png">    </p:cNvPr>
          <p:cNvPicPr>
            <a:picLocks noChangeAspect="1"/>
          </p:cNvPicPr>
          <p:nvPr/>
        </p:nvPicPr>
        <p:blipFill>
          <a:blip r:embed="rId1"/>
          <a:srcRect l="0" r="0" t="0" b="0"/>
          <a:stretch/>
        </p:blipFill>
        <p:spPr>
          <a:xfrm>
            <a:off x="457200" y="292608"/>
            <a:ext cx="914400" cy="320040"/>
          </a:xfrm>
          <a:prstGeom prst="rect">
            <a:avLst/>
          </a:prstGeom>
        </p:spPr>
      </p:pic>
      <p:sp>
        <p:nvSpPr>
          <p:cNvPr id="3" name="Shape 0"/>
          <p:cNvSpPr/>
          <p:nvPr/>
        </p:nvSpPr>
        <p:spPr>
          <a:xfrm>
            <a:off x="1463040" y="365760"/>
            <a:ext cx="0" cy="182880"/>
          </a:xfrm>
          <a:prstGeom prst="line">
            <a:avLst/>
          </a:prstGeom>
          <a:noFill/>
          <a:ln w="6350">
            <a:solidFill>
              <a:srgbClr val="E5E0D7"/>
            </a:solidFill>
            <a:prstDash val="solid"/>
          </a:ln>
        </p:spPr>
      </p:sp>
      <p:sp>
        <p:nvSpPr>
          <p:cNvPr id="4" name="Text 1"/>
          <p:cNvSpPr/>
          <p:nvPr/>
        </p:nvSpPr>
        <p:spPr>
          <a:xfrm>
            <a:off x="1600200" y="347472"/>
            <a:ext cx="5486400" cy="256032"/>
          </a:xfrm>
          <a:prstGeom prst="rect">
            <a:avLst/>
          </a:prstGeom>
          <a:noFill/>
          <a:ln/>
        </p:spPr>
        <p:txBody>
          <a:bodyPr wrap="square" lIns="0" tIns="0" rIns="0" bIns="0" rtlCol="0" anchor="ctr"/>
          <a:lstStyle/>
          <a:p>
            <a:pPr indent="0" marL="0">
              <a:buNone/>
            </a:pPr>
            <a:r>
              <a:rPr lang="en-US" sz="900" b="1" spc="400" kern="0" dirty="0">
                <a:solidFill>
                  <a:srgbClr val="B8860B"/>
                </a:solidFill>
                <a:latin typeface="Avenir Next LT Pro" pitchFamily="34" charset="0"/>
                <a:ea typeface="Avenir Next LT Pro" pitchFamily="34" charset="-122"/>
                <a:cs typeface="Avenir Next LT Pro" pitchFamily="34" charset="-120"/>
              </a:rPr>
              <a:t>10  ·  REPORTAGE PHOTO, PROJET</a:t>
            </a:r>
            <a:endParaRPr lang="en-US" sz="900" dirty="0"/>
          </a:p>
        </p:txBody>
      </p:sp>
      <p:sp>
        <p:nvSpPr>
          <p:cNvPr id="5" name="Text 2"/>
          <p:cNvSpPr/>
          <p:nvPr/>
        </p:nvSpPr>
        <p:spPr>
          <a:xfrm>
            <a:off x="6858000" y="347472"/>
            <a:ext cx="1828800" cy="256032"/>
          </a:xfrm>
          <a:prstGeom prst="rect">
            <a:avLst/>
          </a:prstGeom>
          <a:noFill/>
          <a:ln/>
        </p:spPr>
        <p:txBody>
          <a:bodyPr wrap="square" lIns="0" tIns="0" rIns="0" bIns="0" rtlCol="0" anchor="ctr"/>
          <a:lstStyle/>
          <a:p>
            <a:pPr algn="r" indent="0" marL="0">
              <a:buNone/>
            </a:pPr>
            <a:r>
              <a:rPr lang="en-US" sz="900" b="1" spc="400" kern="0" dirty="0">
                <a:solidFill>
                  <a:srgbClr val="8A7B5C"/>
                </a:solidFill>
                <a:latin typeface="Avenir Next LT Pro" pitchFamily="34" charset="0"/>
                <a:ea typeface="Avenir Next LT Pro" pitchFamily="34" charset="-122"/>
                <a:cs typeface="Avenir Next LT Pro" pitchFamily="34" charset="-120"/>
              </a:rPr>
              <a:t>RÉF. 72RB</a:t>
            </a:r>
            <a:endParaRPr lang="en-US" sz="900" dirty="0"/>
          </a:p>
        </p:txBody>
      </p:sp>
      <p:sp>
        <p:nvSpPr>
          <p:cNvPr id="6" name="Shape 3"/>
          <p:cNvSpPr/>
          <p:nvPr/>
        </p:nvSpPr>
        <p:spPr>
          <a:xfrm>
            <a:off x="457200" y="731520"/>
            <a:ext cx="8229600" cy="0"/>
          </a:xfrm>
          <a:prstGeom prst="line">
            <a:avLst/>
          </a:prstGeom>
          <a:noFill/>
          <a:ln w="6350">
            <a:solidFill>
              <a:srgbClr val="E5E0D7"/>
            </a:solidFill>
            <a:prstDash val="solid"/>
          </a:ln>
        </p:spPr>
      </p:sp>
      <p:sp>
        <p:nvSpPr>
          <p:cNvPr id="7" name="Text 4"/>
          <p:cNvSpPr/>
          <p:nvPr/>
        </p:nvSpPr>
        <p:spPr>
          <a:xfrm>
            <a:off x="457200" y="960120"/>
            <a:ext cx="7315200" cy="256032"/>
          </a:xfrm>
          <a:prstGeom prst="rect">
            <a:avLst/>
          </a:prstGeom>
          <a:noFill/>
          <a:ln/>
        </p:spPr>
        <p:txBody>
          <a:bodyPr wrap="square" lIns="0" tIns="0" rIns="0" bIns="0" rtlCol="0" anchor="ctr"/>
          <a:lstStyle/>
          <a:p>
            <a:pPr indent="0" marL="0">
              <a:buNone/>
            </a:pPr>
            <a:r>
              <a:rPr lang="en-US" sz="900" b="1" spc="500" kern="0" dirty="0">
                <a:solidFill>
                  <a:srgbClr val="B8860B"/>
                </a:solidFill>
                <a:latin typeface="Avenir Next LT Pro" pitchFamily="34" charset="0"/>
                <a:ea typeface="Avenir Next LT Pro" pitchFamily="34" charset="-122"/>
                <a:cs typeface="Avenir Next LT Pro" pitchFamily="34" charset="-120"/>
              </a:rPr>
              <a:t>PROJET</a:t>
            </a:r>
            <a:endParaRPr lang="en-US" sz="900" dirty="0"/>
          </a:p>
        </p:txBody>
      </p:sp>
      <p:sp>
        <p:nvSpPr>
          <p:cNvPr id="8" name="Text 5"/>
          <p:cNvSpPr/>
          <p:nvPr/>
        </p:nvSpPr>
        <p:spPr>
          <a:xfrm>
            <a:off x="457200" y="128016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Avenir Next LT Pro" pitchFamily="34" charset="0"/>
                <a:ea typeface="Avenir Next LT Pro" pitchFamily="34" charset="-122"/>
                <a:cs typeface="Avenir Next LT Pro" pitchFamily="34" charset="-120"/>
              </a:rPr>
              <a:t>Rendus et inspirations</a:t>
            </a:r>
            <a:endParaRPr lang="en-US" sz="2600" dirty="0"/>
          </a:p>
        </p:txBody>
      </p:sp>
      <p:sp>
        <p:nvSpPr>
          <p:cNvPr id="9" name="Shape 6"/>
          <p:cNvSpPr/>
          <p:nvPr/>
        </p:nvSpPr>
        <p:spPr>
          <a:xfrm>
            <a:off x="457200" y="2103120"/>
            <a:ext cx="2606040" cy="1188720"/>
          </a:xfrm>
          <a:prstGeom prst="rect">
            <a:avLst/>
          </a:prstGeom>
          <a:solidFill>
            <a:srgbClr val="FAFAF8"/>
          </a:solidFill>
          <a:ln w="6350">
            <a:solidFill>
              <a:srgbClr val="E5E0D7"/>
            </a:solidFill>
            <a:prstDash val="solid"/>
          </a:ln>
        </p:spPr>
      </p:sp>
      <p:sp>
        <p:nvSpPr>
          <p:cNvPr id="10" name="Shape 7"/>
          <p:cNvSpPr/>
          <p:nvPr/>
        </p:nvSpPr>
        <p:spPr>
          <a:xfrm>
            <a:off x="457200" y="2103120"/>
            <a:ext cx="2606040" cy="36576"/>
          </a:xfrm>
          <a:prstGeom prst="rect">
            <a:avLst/>
          </a:prstGeom>
          <a:solidFill>
            <a:srgbClr val="B8860B"/>
          </a:solidFill>
          <a:ln w="12700">
            <a:solidFill>
              <a:srgbClr val="B8860B"/>
            </a:solidFill>
            <a:prstDash val="solid"/>
          </a:ln>
        </p:spPr>
      </p:sp>
      <p:sp>
        <p:nvSpPr>
          <p:cNvPr id="11" name="Text 8"/>
          <p:cNvSpPr/>
          <p:nvPr/>
        </p:nvSpPr>
        <p:spPr>
          <a:xfrm>
            <a:off x="45720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01</a:t>
            </a:r>
            <a:endParaRPr lang="en-US" sz="900" dirty="0"/>
          </a:p>
        </p:txBody>
      </p:sp>
      <p:sp>
        <p:nvSpPr>
          <p:cNvPr id="12" name="Shape 9"/>
          <p:cNvSpPr/>
          <p:nvPr/>
        </p:nvSpPr>
        <p:spPr>
          <a:xfrm>
            <a:off x="3246120" y="2103120"/>
            <a:ext cx="2606040" cy="1188720"/>
          </a:xfrm>
          <a:prstGeom prst="rect">
            <a:avLst/>
          </a:prstGeom>
          <a:solidFill>
            <a:srgbClr val="FAFAF8"/>
          </a:solidFill>
          <a:ln w="6350">
            <a:solidFill>
              <a:srgbClr val="E5E0D7"/>
            </a:solidFill>
            <a:prstDash val="solid"/>
          </a:ln>
        </p:spPr>
      </p:sp>
      <p:sp>
        <p:nvSpPr>
          <p:cNvPr id="13" name="Shape 10"/>
          <p:cNvSpPr/>
          <p:nvPr/>
        </p:nvSpPr>
        <p:spPr>
          <a:xfrm>
            <a:off x="3246120" y="2103120"/>
            <a:ext cx="2606040" cy="36576"/>
          </a:xfrm>
          <a:prstGeom prst="rect">
            <a:avLst/>
          </a:prstGeom>
          <a:solidFill>
            <a:srgbClr val="B8860B"/>
          </a:solidFill>
          <a:ln w="12700">
            <a:solidFill>
              <a:srgbClr val="B8860B"/>
            </a:solidFill>
            <a:prstDash val="solid"/>
          </a:ln>
        </p:spPr>
      </p:sp>
      <p:sp>
        <p:nvSpPr>
          <p:cNvPr id="14" name="Text 11"/>
          <p:cNvSpPr/>
          <p:nvPr/>
        </p:nvSpPr>
        <p:spPr>
          <a:xfrm>
            <a:off x="324612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02</a:t>
            </a:r>
            <a:endParaRPr lang="en-US" sz="900" dirty="0"/>
          </a:p>
        </p:txBody>
      </p:sp>
      <p:sp>
        <p:nvSpPr>
          <p:cNvPr id="15" name="Shape 12"/>
          <p:cNvSpPr/>
          <p:nvPr/>
        </p:nvSpPr>
        <p:spPr>
          <a:xfrm>
            <a:off x="6035040" y="2103120"/>
            <a:ext cx="2606040" cy="1188720"/>
          </a:xfrm>
          <a:prstGeom prst="rect">
            <a:avLst/>
          </a:prstGeom>
          <a:solidFill>
            <a:srgbClr val="FAFAF8"/>
          </a:solidFill>
          <a:ln w="6350">
            <a:solidFill>
              <a:srgbClr val="E5E0D7"/>
            </a:solidFill>
            <a:prstDash val="solid"/>
          </a:ln>
        </p:spPr>
      </p:sp>
      <p:sp>
        <p:nvSpPr>
          <p:cNvPr id="16" name="Shape 13"/>
          <p:cNvSpPr/>
          <p:nvPr/>
        </p:nvSpPr>
        <p:spPr>
          <a:xfrm>
            <a:off x="6035040" y="2103120"/>
            <a:ext cx="2606040" cy="36576"/>
          </a:xfrm>
          <a:prstGeom prst="rect">
            <a:avLst/>
          </a:prstGeom>
          <a:solidFill>
            <a:srgbClr val="B8860B"/>
          </a:solidFill>
          <a:ln w="12700">
            <a:solidFill>
              <a:srgbClr val="B8860B"/>
            </a:solidFill>
            <a:prstDash val="solid"/>
          </a:ln>
        </p:spPr>
      </p:sp>
      <p:sp>
        <p:nvSpPr>
          <p:cNvPr id="17" name="Text 14"/>
          <p:cNvSpPr/>
          <p:nvPr/>
        </p:nvSpPr>
        <p:spPr>
          <a:xfrm>
            <a:off x="6035040" y="21031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03</a:t>
            </a:r>
            <a:endParaRPr lang="en-US" sz="900" dirty="0"/>
          </a:p>
        </p:txBody>
      </p:sp>
      <p:sp>
        <p:nvSpPr>
          <p:cNvPr id="18" name="Shape 15"/>
          <p:cNvSpPr/>
          <p:nvPr/>
        </p:nvSpPr>
        <p:spPr>
          <a:xfrm>
            <a:off x="457200" y="3474720"/>
            <a:ext cx="2606040" cy="1188720"/>
          </a:xfrm>
          <a:prstGeom prst="rect">
            <a:avLst/>
          </a:prstGeom>
          <a:solidFill>
            <a:srgbClr val="FAFAF8"/>
          </a:solidFill>
          <a:ln w="6350">
            <a:solidFill>
              <a:srgbClr val="E5E0D7"/>
            </a:solidFill>
            <a:prstDash val="solid"/>
          </a:ln>
        </p:spPr>
      </p:sp>
      <p:sp>
        <p:nvSpPr>
          <p:cNvPr id="19" name="Shape 16"/>
          <p:cNvSpPr/>
          <p:nvPr/>
        </p:nvSpPr>
        <p:spPr>
          <a:xfrm>
            <a:off x="457200" y="3474720"/>
            <a:ext cx="2606040" cy="36576"/>
          </a:xfrm>
          <a:prstGeom prst="rect">
            <a:avLst/>
          </a:prstGeom>
          <a:solidFill>
            <a:srgbClr val="B8860B"/>
          </a:solidFill>
          <a:ln w="12700">
            <a:solidFill>
              <a:srgbClr val="B8860B"/>
            </a:solidFill>
            <a:prstDash val="solid"/>
          </a:ln>
        </p:spPr>
      </p:sp>
      <p:sp>
        <p:nvSpPr>
          <p:cNvPr id="20" name="Text 17"/>
          <p:cNvSpPr/>
          <p:nvPr/>
        </p:nvSpPr>
        <p:spPr>
          <a:xfrm>
            <a:off x="45720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04</a:t>
            </a:r>
            <a:endParaRPr lang="en-US" sz="900" dirty="0"/>
          </a:p>
        </p:txBody>
      </p:sp>
      <p:sp>
        <p:nvSpPr>
          <p:cNvPr id="21" name="Shape 18"/>
          <p:cNvSpPr/>
          <p:nvPr/>
        </p:nvSpPr>
        <p:spPr>
          <a:xfrm>
            <a:off x="3246120" y="3474720"/>
            <a:ext cx="2606040" cy="1188720"/>
          </a:xfrm>
          <a:prstGeom prst="rect">
            <a:avLst/>
          </a:prstGeom>
          <a:solidFill>
            <a:srgbClr val="FAFAF8"/>
          </a:solidFill>
          <a:ln w="6350">
            <a:solidFill>
              <a:srgbClr val="E5E0D7"/>
            </a:solidFill>
            <a:prstDash val="solid"/>
          </a:ln>
        </p:spPr>
      </p:sp>
      <p:sp>
        <p:nvSpPr>
          <p:cNvPr id="22" name="Shape 19"/>
          <p:cNvSpPr/>
          <p:nvPr/>
        </p:nvSpPr>
        <p:spPr>
          <a:xfrm>
            <a:off x="3246120" y="3474720"/>
            <a:ext cx="2606040" cy="36576"/>
          </a:xfrm>
          <a:prstGeom prst="rect">
            <a:avLst/>
          </a:prstGeom>
          <a:solidFill>
            <a:srgbClr val="B8860B"/>
          </a:solidFill>
          <a:ln w="12700">
            <a:solidFill>
              <a:srgbClr val="B8860B"/>
            </a:solidFill>
            <a:prstDash val="solid"/>
          </a:ln>
        </p:spPr>
      </p:sp>
      <p:sp>
        <p:nvSpPr>
          <p:cNvPr id="23" name="Text 20"/>
          <p:cNvSpPr/>
          <p:nvPr/>
        </p:nvSpPr>
        <p:spPr>
          <a:xfrm>
            <a:off x="324612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05</a:t>
            </a:r>
            <a:endParaRPr lang="en-US" sz="900" dirty="0"/>
          </a:p>
        </p:txBody>
      </p:sp>
      <p:sp>
        <p:nvSpPr>
          <p:cNvPr id="24" name="Shape 21"/>
          <p:cNvSpPr/>
          <p:nvPr/>
        </p:nvSpPr>
        <p:spPr>
          <a:xfrm>
            <a:off x="6035040" y="3474720"/>
            <a:ext cx="2606040" cy="1188720"/>
          </a:xfrm>
          <a:prstGeom prst="rect">
            <a:avLst/>
          </a:prstGeom>
          <a:solidFill>
            <a:srgbClr val="FAFAF8"/>
          </a:solidFill>
          <a:ln w="6350">
            <a:solidFill>
              <a:srgbClr val="E5E0D7"/>
            </a:solidFill>
            <a:prstDash val="solid"/>
          </a:ln>
        </p:spPr>
      </p:sp>
      <p:sp>
        <p:nvSpPr>
          <p:cNvPr id="25" name="Shape 22"/>
          <p:cNvSpPr/>
          <p:nvPr/>
        </p:nvSpPr>
        <p:spPr>
          <a:xfrm>
            <a:off x="6035040" y="3474720"/>
            <a:ext cx="2606040" cy="36576"/>
          </a:xfrm>
          <a:prstGeom prst="rect">
            <a:avLst/>
          </a:prstGeom>
          <a:solidFill>
            <a:srgbClr val="B8860B"/>
          </a:solidFill>
          <a:ln w="12700">
            <a:solidFill>
              <a:srgbClr val="B8860B"/>
            </a:solidFill>
            <a:prstDash val="solid"/>
          </a:ln>
        </p:spPr>
      </p:sp>
      <p:sp>
        <p:nvSpPr>
          <p:cNvPr id="26" name="Text 23"/>
          <p:cNvSpPr/>
          <p:nvPr/>
        </p:nvSpPr>
        <p:spPr>
          <a:xfrm>
            <a:off x="6035040" y="3474720"/>
            <a:ext cx="2606040" cy="1188720"/>
          </a:xfrm>
          <a:prstGeom prst="rect">
            <a:avLst/>
          </a:prstGeom>
          <a:noFill/>
          <a:ln/>
        </p:spPr>
        <p:txBody>
          <a:bodyPr wrap="square" lIns="0" tIns="0" rIns="0" bIns="0" rtlCol="0" anchor="ctr"/>
          <a:lstStyle/>
          <a:p>
            <a:pPr algn="ctr" indent="0" marL="0">
              <a:buNone/>
            </a:pPr>
            <a:r>
              <a:rPr lang="en-US" sz="900" spc="400" kern="0" dirty="0">
                <a:solidFill>
                  <a:srgbClr val="B5A77E"/>
                </a:solidFill>
                <a:latin typeface="Avenir Next LT Pro" pitchFamily="34" charset="0"/>
                <a:ea typeface="Avenir Next LT Pro" pitchFamily="34" charset="-122"/>
                <a:cs typeface="Avenir Next LT Pro" pitchFamily="34" charset="-120"/>
              </a:rPr>
              <a:t>RENDU 06</a:t>
            </a:r>
            <a:endParaRPr lang="en-US" sz="900" dirty="0"/>
          </a:p>
        </p:txBody>
      </p:sp>
      <p:sp>
        <p:nvSpPr>
          <p:cNvPr id="27" name="Shape 24"/>
          <p:cNvSpPr/>
          <p:nvPr/>
        </p:nvSpPr>
        <p:spPr>
          <a:xfrm>
            <a:off x="457200" y="4800600"/>
            <a:ext cx="8229600" cy="0"/>
          </a:xfrm>
          <a:prstGeom prst="line">
            <a:avLst/>
          </a:prstGeom>
          <a:noFill/>
          <a:ln w="6350">
            <a:solidFill>
              <a:srgbClr val="E5E0D7"/>
            </a:solidFill>
            <a:prstDash val="solid"/>
          </a:ln>
        </p:spPr>
      </p:sp>
      <p:sp>
        <p:nvSpPr>
          <p:cNvPr id="28" name="Text 25"/>
          <p:cNvSpPr/>
          <p:nvPr/>
        </p:nvSpPr>
        <p:spPr>
          <a:xfrm>
            <a:off x="457200" y="4864608"/>
            <a:ext cx="4572000" cy="228600"/>
          </a:xfrm>
          <a:prstGeom prst="rect">
            <a:avLst/>
          </a:prstGeom>
          <a:noFill/>
          <a:ln/>
        </p:spPr>
        <p:txBody>
          <a:bodyPr wrap="square" lIns="0" tIns="0" rIns="0" bIns="0" rtlCol="0" anchor="ctr"/>
          <a:lstStyle/>
          <a:p>
            <a:pP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IRIS REP  ·  Réunir, Créer, Investir.</a:t>
            </a:r>
            <a:endParaRPr lang="en-US" sz="800" dirty="0"/>
          </a:p>
        </p:txBody>
      </p:sp>
      <p:sp>
        <p:nvSpPr>
          <p:cNvPr id="29" name="Text 26"/>
          <p:cNvSpPr/>
          <p:nvPr/>
        </p:nvSpPr>
        <p:spPr>
          <a:xfrm>
            <a:off x="7772400" y="4864608"/>
            <a:ext cx="914400" cy="228600"/>
          </a:xfrm>
          <a:prstGeom prst="rect">
            <a:avLst/>
          </a:prstGeom>
          <a:noFill/>
          <a:ln/>
        </p:spPr>
        <p:txBody>
          <a:bodyPr wrap="square" lIns="0" tIns="0" rIns="0" bIns="0" rtlCol="0" anchor="ctr"/>
          <a:lstStyle/>
          <a:p>
            <a:pPr algn="r" indent="0" marL="0">
              <a:buNone/>
            </a:pPr>
            <a:r>
              <a:rPr lang="en-US" sz="800" spc="200" kern="0" dirty="0">
                <a:solidFill>
                  <a:srgbClr val="8A7B5C"/>
                </a:solidFill>
                <a:latin typeface="Avenir Next LT Pro" pitchFamily="34" charset="0"/>
                <a:ea typeface="Avenir Next LT Pro" pitchFamily="34" charset="-122"/>
                <a:cs typeface="Avenir Next LT Pro"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457200" y="457200"/>
            <a:ext cx="8229600" cy="0"/>
          </a:xfrm>
          <a:prstGeom prst="line">
            <a:avLst/>
          </a:prstGeom>
          <a:noFill/>
          <a:ln w="9525">
            <a:solidFill>
              <a:srgbClr val="B8860B"/>
            </a:solidFill>
            <a:prstDash val="solid"/>
          </a:ln>
        </p:spPr>
      </p:sp>
      <p:sp>
        <p:nvSpPr>
          <p:cNvPr id="3" name="Shape 1"/>
          <p:cNvSpPr/>
          <p:nvPr/>
        </p:nvSpPr>
        <p:spPr>
          <a:xfrm>
            <a:off x="457200" y="4686300"/>
            <a:ext cx="8229600" cy="0"/>
          </a:xfrm>
          <a:prstGeom prst="line">
            <a:avLst/>
          </a:prstGeom>
          <a:noFill/>
          <a:ln w="9525">
            <a:solidFill>
              <a:srgbClr val="B8860B"/>
            </a:solidFill>
            <a:prstDash val="solid"/>
          </a:ln>
        </p:spPr>
      </p:sp>
      <p:pic>
        <p:nvPicPr>
          <p:cNvPr id="4" name="Image 0" descr="/sessions/cool-amazing-brown/mnt/outputs/UR03/iris_rep_blanc_noir.png">    </p:cNvPr>
          <p:cNvPicPr>
            <a:picLocks noChangeAspect="1"/>
          </p:cNvPicPr>
          <p:nvPr/>
        </p:nvPicPr>
        <p:blipFill>
          <a:blip r:embed="rId1"/>
          <a:srcRect l="0" r="0" t="0" b="0"/>
          <a:stretch/>
        </p:blipFill>
        <p:spPr>
          <a:xfrm>
            <a:off x="457200" y="685800"/>
            <a:ext cx="1371600" cy="502920"/>
          </a:xfrm>
          <a:prstGeom prst="rect">
            <a:avLst/>
          </a:prstGeom>
        </p:spPr>
      </p:pic>
      <p:sp>
        <p:nvSpPr>
          <p:cNvPr id="5" name="Text 2"/>
          <p:cNvSpPr/>
          <p:nvPr/>
        </p:nvSpPr>
        <p:spPr>
          <a:xfrm>
            <a:off x="457200" y="1737360"/>
            <a:ext cx="8229600" cy="274320"/>
          </a:xfrm>
          <a:prstGeom prst="rect">
            <a:avLst/>
          </a:prstGeom>
          <a:noFill/>
          <a:ln/>
        </p:spPr>
        <p:txBody>
          <a:bodyPr wrap="square" lIns="0" tIns="0" rIns="0" bIns="0" rtlCol="0" anchor="ctr"/>
          <a:lstStyle/>
          <a:p>
            <a:pPr indent="0" marL="0">
              <a:buNone/>
            </a:pPr>
            <a:r>
              <a:rPr lang="en-US" sz="1100" b="1" spc="800" kern="0" dirty="0">
                <a:solidFill>
                  <a:srgbClr val="B8860B"/>
                </a:solidFill>
                <a:latin typeface="Avenir Next LT Pro" pitchFamily="34" charset="0"/>
                <a:ea typeface="Avenir Next LT Pro" pitchFamily="34" charset="-122"/>
                <a:cs typeface="Avenir Next LT Pro" pitchFamily="34" charset="-120"/>
              </a:rPr>
              <a:t>CONTACT</a:t>
            </a:r>
            <a:endParaRPr lang="en-US" sz="1100" dirty="0"/>
          </a:p>
        </p:txBody>
      </p:sp>
      <p:sp>
        <p:nvSpPr>
          <p:cNvPr id="6" name="Shape 3"/>
          <p:cNvSpPr/>
          <p:nvPr/>
        </p:nvSpPr>
        <p:spPr>
          <a:xfrm>
            <a:off x="457200" y="2103120"/>
            <a:ext cx="548640" cy="0"/>
          </a:xfrm>
          <a:prstGeom prst="line">
            <a:avLst/>
          </a:prstGeom>
          <a:noFill/>
          <a:ln w="19050">
            <a:solidFill>
              <a:srgbClr val="B8860B"/>
            </a:solidFill>
            <a:prstDash val="solid"/>
          </a:ln>
        </p:spPr>
      </p:sp>
      <p:sp>
        <p:nvSpPr>
          <p:cNvPr id="7" name="Text 4"/>
          <p:cNvSpPr/>
          <p:nvPr/>
        </p:nvSpPr>
        <p:spPr>
          <a:xfrm>
            <a:off x="457200" y="2286000"/>
            <a:ext cx="8229600" cy="640080"/>
          </a:xfrm>
          <a:prstGeom prst="rect">
            <a:avLst/>
          </a:prstGeom>
          <a:noFill/>
          <a:ln/>
        </p:spPr>
        <p:txBody>
          <a:bodyPr wrap="square" lIns="0" tIns="0" rIns="0" bIns="0" rtlCol="0" anchor="ctr"/>
          <a:lstStyle/>
          <a:p>
            <a:pPr indent="0" marL="0">
              <a:buNone/>
            </a:pPr>
            <a:r>
              <a:rPr lang="en-US" sz="3200" i="1" dirty="0">
                <a:solidFill>
                  <a:srgbClr val="FAFAF8"/>
                </a:solidFill>
                <a:latin typeface="Georgia" pitchFamily="34" charset="0"/>
                <a:ea typeface="Georgia" pitchFamily="34" charset="-122"/>
                <a:cs typeface="Georgia" pitchFamily="34" charset="-120"/>
              </a:rPr>
              <a:t>Yannis Benbaouali</a:t>
            </a:r>
            <a:endParaRPr lang="en-US" sz="3200" dirty="0"/>
          </a:p>
        </p:txBody>
      </p:sp>
      <p:sp>
        <p:nvSpPr>
          <p:cNvPr id="8" name="Text 5"/>
          <p:cNvSpPr/>
          <p:nvPr/>
        </p:nvSpPr>
        <p:spPr>
          <a:xfrm>
            <a:off x="457200" y="2971800"/>
            <a:ext cx="8229600" cy="274320"/>
          </a:xfrm>
          <a:prstGeom prst="rect">
            <a:avLst/>
          </a:prstGeom>
          <a:noFill/>
          <a:ln/>
        </p:spPr>
        <p:txBody>
          <a:bodyPr wrap="square" lIns="0" tIns="0" rIns="0" bIns="0" rtlCol="0" anchor="ctr"/>
          <a:lstStyle/>
          <a:p>
            <a:pPr indent="0" marL="0">
              <a:buNone/>
            </a:pPr>
            <a:r>
              <a:rPr lang="en-US" sz="1100" spc="300" kern="0" dirty="0">
                <a:solidFill>
                  <a:srgbClr val="B8860B"/>
                </a:solidFill>
                <a:latin typeface="Avenir Next LT Pro" pitchFamily="34" charset="0"/>
                <a:ea typeface="Avenir Next LT Pro" pitchFamily="34" charset="-122"/>
                <a:cs typeface="Avenir Next LT Pro" pitchFamily="34" charset="-120"/>
              </a:rPr>
              <a:t>Gérant, IRIS H</a:t>
            </a:r>
            <a:endParaRPr lang="en-US" sz="1100" dirty="0"/>
          </a:p>
        </p:txBody>
      </p:sp>
      <p:sp>
        <p:nvSpPr>
          <p:cNvPr id="9" name="Text 6"/>
          <p:cNvSpPr/>
          <p:nvPr/>
        </p:nvSpPr>
        <p:spPr>
          <a:xfrm>
            <a:off x="457200" y="3520440"/>
            <a:ext cx="8229600" cy="274320"/>
          </a:xfrm>
          <a:prstGeom prst="rect">
            <a:avLst/>
          </a:prstGeom>
          <a:noFill/>
          <a:ln/>
        </p:spPr>
        <p:txBody>
          <a:bodyPr wrap="square" lIns="0" tIns="0" rIns="0" bIns="0" rtlCol="0" anchor="ctr"/>
          <a:lstStyle/>
          <a:p>
            <a:pPr indent="0" marL="0">
              <a:buNone/>
            </a:pPr>
            <a:r>
              <a:rPr lang="en-US" sz="1300" dirty="0">
                <a:solidFill>
                  <a:srgbClr val="FAFAF8"/>
                </a:solidFill>
                <a:latin typeface="Avenir Next LT Pro" pitchFamily="34" charset="0"/>
                <a:ea typeface="Avenir Next LT Pro" pitchFamily="34" charset="-122"/>
                <a:cs typeface="Avenir Next LT Pro" pitchFamily="34" charset="-120"/>
              </a:rPr>
              <a:t>yannis.benbaouali@gmail.com</a:t>
            </a:r>
            <a:endParaRPr lang="en-US" sz="1300" dirty="0"/>
          </a:p>
        </p:txBody>
      </p:sp>
      <p:sp>
        <p:nvSpPr>
          <p:cNvPr id="10" name="Text 7"/>
          <p:cNvSpPr/>
          <p:nvPr/>
        </p:nvSpPr>
        <p:spPr>
          <a:xfrm>
            <a:off x="457200" y="3977640"/>
            <a:ext cx="8229600" cy="274320"/>
          </a:xfrm>
          <a:prstGeom prst="rect">
            <a:avLst/>
          </a:prstGeom>
          <a:noFill/>
          <a:ln/>
        </p:spPr>
        <p:txBody>
          <a:bodyPr wrap="square" lIns="0" tIns="0" rIns="0" bIns="0" rtlCol="0" anchor="ctr"/>
          <a:lstStyle/>
          <a:p>
            <a:pPr indent="0" marL="0">
              <a:buNone/>
            </a:pPr>
            <a:r>
              <a:rPr lang="en-US" sz="1200" i="1" spc="200" kern="0" dirty="0">
                <a:solidFill>
                  <a:srgbClr val="B8860B"/>
                </a:solidFill>
                <a:latin typeface="Georgia" pitchFamily="34" charset="0"/>
                <a:ea typeface="Georgia" pitchFamily="34" charset="-122"/>
                <a:cs typeface="Georgia" pitchFamily="34" charset="-120"/>
              </a:rPr>
              <a:t>Réunir, Créer, Investir.</a:t>
            </a:r>
            <a:endParaRPr lang="en-US" sz="1200" dirty="0"/>
          </a:p>
        </p:txBody>
      </p:sp>
      <p:sp>
        <p:nvSpPr>
          <p:cNvPr id="11" name="Text 8"/>
          <p:cNvSpPr/>
          <p:nvPr/>
        </p:nvSpPr>
        <p:spPr>
          <a:xfrm>
            <a:off x="457200" y="4736592"/>
            <a:ext cx="8229600" cy="365760"/>
          </a:xfrm>
          <a:prstGeom prst="rect">
            <a:avLst/>
          </a:prstGeom>
          <a:noFill/>
          <a:ln/>
        </p:spPr>
        <p:txBody>
          <a:bodyPr wrap="square" lIns="0" tIns="0" rIns="0" bIns="0" rtlCol="0" anchor="t"/>
          <a:lstStyle/>
          <a:p>
            <a:pPr indent="0" marL="0">
              <a:buNone/>
            </a:pPr>
            <a:r>
              <a:rPr lang="en-US" sz="700" i="1" dirty="0">
                <a:solidFill>
                  <a:srgbClr val="8A7B5C"/>
                </a:solidFill>
                <a:latin typeface="Avenir Next LT Pro" pitchFamily="34" charset="0"/>
                <a:ea typeface="Avenir Next LT Pro" pitchFamily="34" charset="-122"/>
                <a:cs typeface="Avenir Next LT Pro" pitchFamily="34" charset="-120"/>
              </a:rPr>
              <a:t>IRIS REP, marque du groupe IRIS H. IRIS H, EURL au capital de 2 500 euros, SIREN 931 541 023, siège 120 boulevard de Grenelle 75015 Paris. Document strictement confidentiel. Les informations contenues dans ce document ne constituent pas une offre. Investir comporte des risques de perte en capital.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IRIS REP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IRIS REP - Dossier d'investissement - Reference 72RB</dc:title>
  <dc:subject>PptxGenJS Presentation</dc:subject>
  <dc:creator>IRIS REP</dc:creator>
  <cp:lastModifiedBy>IRIS REP</cp:lastModifiedBy>
  <cp:revision>1</cp:revision>
  <dcterms:created xsi:type="dcterms:W3CDTF">2026-05-17T21:24:27Z</dcterms:created>
  <dcterms:modified xsi:type="dcterms:W3CDTF">2026-05-17T21:24:27Z</dcterms:modified>
</cp:coreProperties>
</file>